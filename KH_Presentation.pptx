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5" r:id="rId1"/>
  </p:sldMasterIdLst>
  <p:sldIdLst>
    <p:sldId id="256" r:id="rId2"/>
    <p:sldId id="283" r:id="rId3"/>
    <p:sldId id="282" r:id="rId4"/>
    <p:sldId id="258" r:id="rId5"/>
    <p:sldId id="259" r:id="rId6"/>
    <p:sldId id="262" r:id="rId7"/>
    <p:sldId id="279" r:id="rId8"/>
    <p:sldId id="263" r:id="rId9"/>
    <p:sldId id="264" r:id="rId10"/>
    <p:sldId id="280" r:id="rId11"/>
    <p:sldId id="281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60C66-4C1F-45A4-A416-6FEDD0A1E5CF}" v="7" dt="2026-10-03T04:38:52.853"/>
    <p1510:client id="{598993AA-4997-4765-ABA5-0B7394CF7D88}" v="31" dt="2026-10-02T05:45:40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uja Sarkate" userId="855e9c059c0ae5f5" providerId="LiveId" clId="{98990743-7087-471A-94E5-8B7762446DA6}"/>
    <pc:docChg chg="undo custSel addSld delSld modSld sldOrd">
      <pc:chgData name="Rutuja Sarkate" userId="855e9c059c0ae5f5" providerId="LiveId" clId="{98990743-7087-471A-94E5-8B7762446DA6}" dt="2026-10-03T04:57:04.796" v="31" actId="208"/>
      <pc:docMkLst>
        <pc:docMk/>
      </pc:docMkLst>
      <pc:sldChg chg="modSp mod">
        <pc:chgData name="Rutuja Sarkate" userId="855e9c059c0ae5f5" providerId="LiveId" clId="{98990743-7087-471A-94E5-8B7762446DA6}" dt="2026-10-03T04:22:50.133" v="18" actId="14100"/>
        <pc:sldMkLst>
          <pc:docMk/>
          <pc:sldMk cId="3687340236" sldId="256"/>
        </pc:sldMkLst>
        <pc:spChg chg="mod">
          <ac:chgData name="Rutuja Sarkate" userId="855e9c059c0ae5f5" providerId="LiveId" clId="{98990743-7087-471A-94E5-8B7762446DA6}" dt="2026-10-03T04:22:21.076" v="12" actId="207"/>
          <ac:spMkLst>
            <pc:docMk/>
            <pc:sldMk cId="3687340236" sldId="256"/>
            <ac:spMk id="5" creationId="{30C2322A-0B48-7C87-A2B1-6FACD5933517}"/>
          </ac:spMkLst>
        </pc:spChg>
        <pc:picChg chg="mod">
          <ac:chgData name="Rutuja Sarkate" userId="855e9c059c0ae5f5" providerId="LiveId" clId="{98990743-7087-471A-94E5-8B7762446DA6}" dt="2026-10-03T04:22:50.133" v="18" actId="14100"/>
          <ac:picMkLst>
            <pc:docMk/>
            <pc:sldMk cId="3687340236" sldId="256"/>
            <ac:picMk id="6" creationId="{FB8A9053-505A-5BBA-32AF-02EE95E234DB}"/>
          </ac:picMkLst>
        </pc:picChg>
      </pc:sldChg>
      <pc:sldChg chg="del">
        <pc:chgData name="Rutuja Sarkate" userId="855e9c059c0ae5f5" providerId="LiveId" clId="{98990743-7087-471A-94E5-8B7762446DA6}" dt="2026-10-02T06:31:45.415" v="11" actId="47"/>
        <pc:sldMkLst>
          <pc:docMk/>
          <pc:sldMk cId="2111060390" sldId="257"/>
        </pc:sldMkLst>
      </pc:sldChg>
      <pc:sldChg chg="modSp mod">
        <pc:chgData name="Rutuja Sarkate" userId="855e9c059c0ae5f5" providerId="LiveId" clId="{98990743-7087-471A-94E5-8B7762446DA6}" dt="2026-10-03T04:57:04.796" v="31" actId="208"/>
        <pc:sldMkLst>
          <pc:docMk/>
          <pc:sldMk cId="3575736498" sldId="258"/>
        </pc:sldMkLst>
        <pc:spChg chg="mod">
          <ac:chgData name="Rutuja Sarkate" userId="855e9c059c0ae5f5" providerId="LiveId" clId="{98990743-7087-471A-94E5-8B7762446DA6}" dt="2026-10-03T04:57:04.796" v="31" actId="208"/>
          <ac:spMkLst>
            <pc:docMk/>
            <pc:sldMk cId="3575736498" sldId="258"/>
            <ac:spMk id="2" creationId="{966F28C9-7875-BA3A-B87D-34B565C93DED}"/>
          </ac:spMkLst>
        </pc:spChg>
      </pc:sldChg>
      <pc:sldChg chg="modSp">
        <pc:chgData name="Rutuja Sarkate" userId="855e9c059c0ae5f5" providerId="LiveId" clId="{98990743-7087-471A-94E5-8B7762446DA6}" dt="2026-10-03T04:38:52.853" v="25" actId="207"/>
        <pc:sldMkLst>
          <pc:docMk/>
          <pc:sldMk cId="1870718365" sldId="259"/>
        </pc:sldMkLst>
        <pc:graphicFrameChg chg="mod">
          <ac:chgData name="Rutuja Sarkate" userId="855e9c059c0ae5f5" providerId="LiveId" clId="{98990743-7087-471A-94E5-8B7762446DA6}" dt="2026-10-03T04:38:52.853" v="25" actId="207"/>
          <ac:graphicFrameMkLst>
            <pc:docMk/>
            <pc:sldMk cId="1870718365" sldId="259"/>
            <ac:graphicFrameMk id="3" creationId="{379CCB8D-B658-BD4A-B9F7-3493AC1684BD}"/>
          </ac:graphicFrameMkLst>
        </pc:graphicFrameChg>
      </pc:sldChg>
      <pc:sldChg chg="modSp mod">
        <pc:chgData name="Rutuja Sarkate" userId="855e9c059c0ae5f5" providerId="LiveId" clId="{98990743-7087-471A-94E5-8B7762446DA6}" dt="2026-10-03T04:55:05.479" v="27" actId="122"/>
        <pc:sldMkLst>
          <pc:docMk/>
          <pc:sldMk cId="3497971182" sldId="272"/>
        </pc:sldMkLst>
        <pc:spChg chg="mod">
          <ac:chgData name="Rutuja Sarkate" userId="855e9c059c0ae5f5" providerId="LiveId" clId="{98990743-7087-471A-94E5-8B7762446DA6}" dt="2026-10-03T04:55:05.479" v="27" actId="122"/>
          <ac:spMkLst>
            <pc:docMk/>
            <pc:sldMk cId="3497971182" sldId="272"/>
            <ac:spMk id="2" creationId="{752434A5-B4F5-8DEA-B800-2362E2EEB073}"/>
          </ac:spMkLst>
        </pc:spChg>
      </pc:sldChg>
      <pc:sldChg chg="modSp mod">
        <pc:chgData name="Rutuja Sarkate" userId="855e9c059c0ae5f5" providerId="LiveId" clId="{98990743-7087-471A-94E5-8B7762446DA6}" dt="2026-10-03T04:55:56.862" v="28" actId="14100"/>
        <pc:sldMkLst>
          <pc:docMk/>
          <pc:sldMk cId="3110900937" sldId="273"/>
        </pc:sldMkLst>
        <pc:picChg chg="mod">
          <ac:chgData name="Rutuja Sarkate" userId="855e9c059c0ae5f5" providerId="LiveId" clId="{98990743-7087-471A-94E5-8B7762446DA6}" dt="2026-10-03T04:55:56.862" v="28" actId="14100"/>
          <ac:picMkLst>
            <pc:docMk/>
            <pc:sldMk cId="3110900937" sldId="273"/>
            <ac:picMk id="6" creationId="{96260A3C-889F-531B-371D-06F73F2A713E}"/>
          </ac:picMkLst>
        </pc:picChg>
      </pc:sldChg>
      <pc:sldChg chg="modSp mod">
        <pc:chgData name="Rutuja Sarkate" userId="855e9c059c0ae5f5" providerId="LiveId" clId="{98990743-7087-471A-94E5-8B7762446DA6}" dt="2026-10-02T06:31:08.582" v="5" actId="208"/>
        <pc:sldMkLst>
          <pc:docMk/>
          <pc:sldMk cId="548058477" sldId="277"/>
        </pc:sldMkLst>
        <pc:spChg chg="mod">
          <ac:chgData name="Rutuja Sarkate" userId="855e9c059c0ae5f5" providerId="LiveId" clId="{98990743-7087-471A-94E5-8B7762446DA6}" dt="2026-10-02T06:31:08.582" v="5" actId="208"/>
          <ac:spMkLst>
            <pc:docMk/>
            <pc:sldMk cId="548058477" sldId="277"/>
            <ac:spMk id="2" creationId="{3C31E15A-5445-9365-7552-DB895F40BADE}"/>
          </ac:spMkLst>
        </pc:spChg>
      </pc:sldChg>
      <pc:sldChg chg="modSp mod">
        <pc:chgData name="Rutuja Sarkate" userId="855e9c059c0ae5f5" providerId="LiveId" clId="{98990743-7087-471A-94E5-8B7762446DA6}" dt="2026-10-03T04:54:10.137" v="26" actId="1076"/>
        <pc:sldMkLst>
          <pc:docMk/>
          <pc:sldMk cId="301268636" sldId="279"/>
        </pc:sldMkLst>
        <pc:spChg chg="mod">
          <ac:chgData name="Rutuja Sarkate" userId="855e9c059c0ae5f5" providerId="LiveId" clId="{98990743-7087-471A-94E5-8B7762446DA6}" dt="2026-10-03T04:54:10.137" v="26" actId="1076"/>
          <ac:spMkLst>
            <pc:docMk/>
            <pc:sldMk cId="301268636" sldId="279"/>
            <ac:spMk id="3" creationId="{B5788A77-7AB8-D88C-4E42-AB8C22524D82}"/>
          </ac:spMkLst>
        </pc:spChg>
      </pc:sldChg>
      <pc:sldChg chg="modSp mod ord">
        <pc:chgData name="Rutuja Sarkate" userId="855e9c059c0ae5f5" providerId="LiveId" clId="{98990743-7087-471A-94E5-8B7762446DA6}" dt="2026-10-03T04:56:46.286" v="29" actId="1076"/>
        <pc:sldMkLst>
          <pc:docMk/>
          <pc:sldMk cId="2759788753" sldId="282"/>
        </pc:sldMkLst>
        <pc:spChg chg="mod">
          <ac:chgData name="Rutuja Sarkate" userId="855e9c059c0ae5f5" providerId="LiveId" clId="{98990743-7087-471A-94E5-8B7762446DA6}" dt="2026-10-03T04:56:46.286" v="29" actId="1076"/>
          <ac:spMkLst>
            <pc:docMk/>
            <pc:sldMk cId="2759788753" sldId="282"/>
            <ac:spMk id="4" creationId="{E03D5E2F-55EB-7D46-E3B3-0687B0039264}"/>
          </ac:spMkLst>
        </pc:spChg>
      </pc:sldChg>
      <pc:sldChg chg="addSp delSp modSp new mod">
        <pc:chgData name="Rutuja Sarkate" userId="855e9c059c0ae5f5" providerId="LiveId" clId="{98990743-7087-471A-94E5-8B7762446DA6}" dt="2026-10-02T06:31:40.042" v="10"/>
        <pc:sldMkLst>
          <pc:docMk/>
          <pc:sldMk cId="718286549" sldId="283"/>
        </pc:sldMkLst>
        <pc:spChg chg="add del mod">
          <ac:chgData name="Rutuja Sarkate" userId="855e9c059c0ae5f5" providerId="LiveId" clId="{98990743-7087-471A-94E5-8B7762446DA6}" dt="2026-10-02T06:31:39.166" v="9"/>
          <ac:spMkLst>
            <pc:docMk/>
            <pc:sldMk cId="718286549" sldId="283"/>
            <ac:spMk id="2" creationId="{3E9F5E3C-E9D3-EF7F-36A1-DAB63F293E51}"/>
          </ac:spMkLst>
        </pc:spChg>
        <pc:picChg chg="add mod">
          <ac:chgData name="Rutuja Sarkate" userId="855e9c059c0ae5f5" providerId="LiveId" clId="{98990743-7087-471A-94E5-8B7762446DA6}" dt="2026-10-02T06:31:40.042" v="10"/>
          <ac:picMkLst>
            <pc:docMk/>
            <pc:sldMk cId="718286549" sldId="283"/>
            <ac:picMk id="3" creationId="{EF4CE06F-4CBF-9FD0-E533-4EE3A689818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5e9c059c0ae5f5/Documents/Resume/Gen-Z%20Career%20Aspiration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[Gen-Z Career Aspiration Dashboard.xlsx]Sheet3!PivotTable2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5 Career Influences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6894227230608126"/>
          <c:y val="0.2336399394549937"/>
          <c:w val="0.4741310114178578"/>
          <c:h val="0.619085115068186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dk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Sheet3!$A$4:$A$9</c:f>
              <c:strCache>
                <c:ptCount val="5"/>
                <c:pt idx="0">
                  <c:v>My Parents</c:v>
                </c:pt>
                <c:pt idx="1">
                  <c:v>People who have changed the world for better</c:v>
                </c:pt>
                <c:pt idx="2">
                  <c:v>Influencers who had successful careers</c:v>
                </c:pt>
                <c:pt idx="3">
                  <c:v>People from my circle, but not family members</c:v>
                </c:pt>
                <c:pt idx="4">
                  <c:v>Social Media like LinkedIn</c:v>
                </c:pt>
              </c:strCache>
            </c:strRef>
          </c:cat>
          <c:val>
            <c:numRef>
              <c:f>Sheet3!$B$4:$B$9</c:f>
              <c:numCache>
                <c:formatCode>General</c:formatCode>
                <c:ptCount val="5"/>
                <c:pt idx="0">
                  <c:v>4819</c:v>
                </c:pt>
                <c:pt idx="1">
                  <c:v>3171</c:v>
                </c:pt>
                <c:pt idx="2">
                  <c:v>2393</c:v>
                </c:pt>
                <c:pt idx="3">
                  <c:v>2096</c:v>
                </c:pt>
                <c:pt idx="4">
                  <c:v>1322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0A-4EFC-B06D-F95E84FCAB2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80309728"/>
        <c:axId val="1395987856"/>
      </c:barChart>
      <c:catAx>
        <c:axId val="1780309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987856"/>
        <c:crosses val="autoZero"/>
        <c:auto val="1"/>
        <c:lblAlgn val="ctr"/>
        <c:lblOffset val="100"/>
        <c:noMultiLvlLbl val="0"/>
      </c:catAx>
      <c:valAx>
        <c:axId val="139598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0309728"/>
        <c:crosses val="autoZero"/>
        <c:crossBetween val="between"/>
      </c:valAx>
      <c:spPr>
        <a:noFill/>
        <a:ln>
          <a:noFill/>
        </a:ln>
        <a:effectLst>
          <a:outerShdw blurRad="50800" dist="50800" dir="5400000" algn="ctr" rotWithShape="0">
            <a:schemeClr val="bg1">
              <a:lumMod val="95000"/>
            </a:schemeClr>
          </a:outerShdw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[Gen-Z Career Aspiration Dashboard.xlsx]Sheet3!PivotTable3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5 Career Aspirations</a:t>
            </a:r>
          </a:p>
        </c:rich>
      </c:tx>
      <c:layout>
        <c:manualLayout>
          <c:xMode val="edge"/>
          <c:yMode val="edge"/>
          <c:x val="0.27229210121568381"/>
          <c:y val="4.696969640933313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Sheet3!$A$23:$A$28</c:f>
              <c:strCache>
                <c:ptCount val="5"/>
                <c:pt idx="0">
                  <c:v>Design &amp; Creative Strategy</c:v>
                </c:pt>
                <c:pt idx="1">
                  <c:v> Data Analysis &amp; Insights</c:v>
                </c:pt>
                <c:pt idx="2">
                  <c:v> Team Management</c:v>
                </c:pt>
                <c:pt idx="3">
                  <c:v> Project/Product Management</c:v>
                </c:pt>
                <c:pt idx="4">
                  <c:v> Entrepreneur or Start Up</c:v>
                </c:pt>
              </c:strCache>
            </c:strRef>
          </c:cat>
          <c:val>
            <c:numRef>
              <c:f>Sheet3!$B$23:$B$28</c:f>
              <c:numCache>
                <c:formatCode>General</c:formatCode>
                <c:ptCount val="5"/>
                <c:pt idx="0">
                  <c:v>1864</c:v>
                </c:pt>
                <c:pt idx="1">
                  <c:v>1389</c:v>
                </c:pt>
                <c:pt idx="2">
                  <c:v>1381</c:v>
                </c:pt>
                <c:pt idx="3">
                  <c:v>1132</c:v>
                </c:pt>
                <c:pt idx="4">
                  <c:v>1117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51-426E-BE59-6A1A7871286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80268896"/>
        <c:axId val="1395984016"/>
      </c:barChart>
      <c:catAx>
        <c:axId val="17802688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984016"/>
        <c:crosses val="autoZero"/>
        <c:auto val="1"/>
        <c:lblAlgn val="ctr"/>
        <c:lblOffset val="100"/>
        <c:noMultiLvlLbl val="0"/>
      </c:catAx>
      <c:valAx>
        <c:axId val="1395984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0268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[Gen-Z Career Aspiration Dashboard.xlsx]Sheet3!PivotTable4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Preferred Work Environment </a:t>
            </a:r>
            <a:endParaRPr lang="en-US"/>
          </a:p>
        </c:rich>
      </c:tx>
      <c:layout>
        <c:manualLayout>
          <c:xMode val="edge"/>
          <c:yMode val="edge"/>
          <c:x val="0.15848862065636149"/>
          <c:y val="3.5067873823765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7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8"/>
      </c:pivotFmt>
      <c:pivotFmt>
        <c:idx val="19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180840173936807"/>
          <c:y val="0.25460674827713081"/>
          <c:w val="0.41097941264249516"/>
          <c:h val="0.652861835671927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Sheet3!$B$42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86F-4790-B965-40F7F82A90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6F-4790-B965-40F7F82A90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86F-4790-B965-40F7F82A90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86F-4790-B965-40F7F82A90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686F-4790-B965-40F7F82A90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86F-4790-B965-40F7F82A90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686F-4790-B965-40F7F82A903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86F-4790-B965-40F7F82A903E}"/>
              </c:ext>
            </c:extLst>
          </c:dPt>
          <c:dLbls>
            <c:spPr>
              <a:noFill/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Sheet3!$A$43:$A$50</c:f>
              <c:strCache>
                <c:ptCount val="7"/>
                <c:pt idx="0">
                  <c:v>Fully Remote – Travel When Needed</c:v>
                </c:pt>
                <c:pt idx="1">
                  <c:v>Hybrid Working Environment with more than 15 days a month at office</c:v>
                </c:pt>
                <c:pt idx="2">
                  <c:v>Every Day Office</c:v>
                </c:pt>
                <c:pt idx="3">
                  <c:v>Hybrid – Less Than 3 Days/Month</c:v>
                </c:pt>
                <c:pt idx="4">
                  <c:v>Fully Remote – No Office Visits</c:v>
                </c:pt>
                <c:pt idx="5">
                  <c:v>Hybrid – Less Than 15 Days/Month</c:v>
                </c:pt>
                <c:pt idx="6">
                  <c:v>Hybrid – Less Than 10 Days/Month</c:v>
                </c:pt>
              </c:strCache>
            </c:strRef>
          </c:cat>
          <c:val>
            <c:numRef>
              <c:f>Sheet3!$B$43:$B$50</c:f>
              <c:numCache>
                <c:formatCode>General</c:formatCode>
                <c:ptCount val="7"/>
                <c:pt idx="0">
                  <c:v>3896</c:v>
                </c:pt>
                <c:pt idx="1">
                  <c:v>3851</c:v>
                </c:pt>
                <c:pt idx="2">
                  <c:v>2926</c:v>
                </c:pt>
                <c:pt idx="3">
                  <c:v>2035</c:v>
                </c:pt>
                <c:pt idx="4">
                  <c:v>751</c:v>
                </c:pt>
                <c:pt idx="5">
                  <c:v>279</c:v>
                </c:pt>
                <c:pt idx="6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6F-4790-B965-40F7F82A90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38059983"/>
        <c:axId val="408809263"/>
      </c:barChart>
      <c:valAx>
        <c:axId val="408809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059983"/>
        <c:crosses val="autoZero"/>
        <c:crossBetween val="between"/>
      </c:valAx>
      <c:catAx>
        <c:axId val="7380599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1" i="0" u="none" strike="noStrike" kern="1200" cap="all" normalizeH="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8809263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[Gen-Z Career Aspiration Dashboard.xlsx]Sheet3!PivotTable4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Preferred Work Environment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7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8"/>
      </c:pivotFmt>
      <c:pivotFmt>
        <c:idx val="19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180840173936807"/>
          <c:y val="0.25460674827713081"/>
          <c:w val="0.41097941264249516"/>
          <c:h val="0.652861835671927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Sheet3!$B$42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579-447D-9663-B16BCD498B7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79-447D-9663-B16BCD498B7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579-447D-9663-B16BCD498B7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579-447D-9663-B16BCD498B7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F579-447D-9663-B16BCD498B7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579-447D-9663-B16BCD498B7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F579-447D-9663-B16BCD498B7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579-447D-9663-B16BCD498B75}"/>
              </c:ext>
            </c:extLst>
          </c:dPt>
          <c:dLbls>
            <c:spPr>
              <a:noFill/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Sheet3!$A$43:$A$50</c:f>
              <c:strCache>
                <c:ptCount val="7"/>
                <c:pt idx="0">
                  <c:v>Fully Remote – Travel When Needed</c:v>
                </c:pt>
                <c:pt idx="1">
                  <c:v>Hybrid Working Environment with more than 15 days a month at office</c:v>
                </c:pt>
                <c:pt idx="2">
                  <c:v>Every Day Office</c:v>
                </c:pt>
                <c:pt idx="3">
                  <c:v>Hybrid – Less Than 3 Days/Month</c:v>
                </c:pt>
                <c:pt idx="4">
                  <c:v>Fully Remote – No Office Visits</c:v>
                </c:pt>
                <c:pt idx="5">
                  <c:v>Hybrid – Less Than 15 Days/Month</c:v>
                </c:pt>
                <c:pt idx="6">
                  <c:v>Hybrid – Less Than 10 Days/Month</c:v>
                </c:pt>
              </c:strCache>
            </c:strRef>
          </c:cat>
          <c:val>
            <c:numRef>
              <c:f>Sheet3!$B$43:$B$50</c:f>
              <c:numCache>
                <c:formatCode>General</c:formatCode>
                <c:ptCount val="7"/>
                <c:pt idx="0">
                  <c:v>3896</c:v>
                </c:pt>
                <c:pt idx="1">
                  <c:v>3851</c:v>
                </c:pt>
                <c:pt idx="2">
                  <c:v>2926</c:v>
                </c:pt>
                <c:pt idx="3">
                  <c:v>2035</c:v>
                </c:pt>
                <c:pt idx="4">
                  <c:v>751</c:v>
                </c:pt>
                <c:pt idx="5">
                  <c:v>279</c:v>
                </c:pt>
                <c:pt idx="6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79-447D-9663-B16BCD498B7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38059983"/>
        <c:axId val="408809263"/>
      </c:barChart>
      <c:valAx>
        <c:axId val="408809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059983"/>
        <c:crosses val="autoZero"/>
        <c:crossBetween val="between"/>
      </c:valAx>
      <c:catAx>
        <c:axId val="7380599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1" i="0" u="none" strike="noStrike" kern="1200" cap="all" normalizeH="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8809263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[Gen-Z Career Aspiration Dashboard.xlsx]Sheet3!PivotTable6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Importance of Social Impact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Sheet3!$B$78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Sheet3!$A$79:$A$89</c:f>
              <c:strCache>
                <c:ptCount val="10"/>
                <c:pt idx="0">
                  <c:v>5</c:v>
                </c:pt>
                <c:pt idx="1">
                  <c:v>1</c:v>
                </c:pt>
                <c:pt idx="2">
                  <c:v>7</c:v>
                </c:pt>
                <c:pt idx="3">
                  <c:v>6</c:v>
                </c:pt>
                <c:pt idx="4">
                  <c:v>8</c:v>
                </c:pt>
                <c:pt idx="5">
                  <c:v>3</c:v>
                </c:pt>
                <c:pt idx="6">
                  <c:v>4</c:v>
                </c:pt>
                <c:pt idx="7">
                  <c:v>10</c:v>
                </c:pt>
                <c:pt idx="8">
                  <c:v>2</c:v>
                </c:pt>
                <c:pt idx="9">
                  <c:v>9</c:v>
                </c:pt>
              </c:strCache>
            </c:strRef>
          </c:cat>
          <c:val>
            <c:numRef>
              <c:f>Sheet3!$B$79:$B$89</c:f>
              <c:numCache>
                <c:formatCode>General</c:formatCode>
                <c:ptCount val="10"/>
                <c:pt idx="0">
                  <c:v>3036</c:v>
                </c:pt>
                <c:pt idx="1">
                  <c:v>1681</c:v>
                </c:pt>
                <c:pt idx="2">
                  <c:v>1610</c:v>
                </c:pt>
                <c:pt idx="3">
                  <c:v>1451</c:v>
                </c:pt>
                <c:pt idx="4">
                  <c:v>1442</c:v>
                </c:pt>
                <c:pt idx="5">
                  <c:v>1257</c:v>
                </c:pt>
                <c:pt idx="6">
                  <c:v>1100</c:v>
                </c:pt>
                <c:pt idx="7">
                  <c:v>995</c:v>
                </c:pt>
                <c:pt idx="8">
                  <c:v>812</c:v>
                </c:pt>
                <c:pt idx="9">
                  <c:v>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75-4DE2-A764-9DFA7562A8D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994988703"/>
        <c:axId val="753946544"/>
      </c:barChart>
      <c:catAx>
        <c:axId val="19949887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3946544"/>
        <c:crosses val="autoZero"/>
        <c:auto val="1"/>
        <c:lblAlgn val="ctr"/>
        <c:lblOffset val="100"/>
        <c:noMultiLvlLbl val="0"/>
      </c:catAx>
      <c:valAx>
        <c:axId val="7539465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498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 b="1" i="0" baseline="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[Gen-Z Career Aspiration Dashboard.xlsx]Sheet3!PivotTable7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Preferred Manager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Sheet3!$B$104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049-41F5-BAC4-8043898B09E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049-41F5-BAC4-8043898B09E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049-41F5-BAC4-8043898B09E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B049-41F5-BAC4-8043898B09E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B049-41F5-BAC4-8043898B09E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B049-41F5-BAC4-8043898B09E6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Sheet3!$A$105:$A$110</c:f>
              <c:strCache>
                <c:ptCount val="5"/>
                <c:pt idx="0">
                  <c:v>Clearly Describes Expectations</c:v>
                </c:pt>
                <c:pt idx="1">
                  <c:v>Explains, Sets Goals &amp; Helps</c:v>
                </c:pt>
                <c:pt idx="2">
                  <c:v>Manager who sets unrealistic targets</c:v>
                </c:pt>
                <c:pt idx="3">
                  <c:v>Sets Goals &amp; Helps</c:v>
                </c:pt>
                <c:pt idx="4">
                  <c:v>Sets Targets &amp; Expects Achievement</c:v>
                </c:pt>
              </c:strCache>
            </c:strRef>
          </c:cat>
          <c:val>
            <c:numRef>
              <c:f>Sheet3!$B$105:$B$110</c:f>
              <c:numCache>
                <c:formatCode>General</c:formatCode>
                <c:ptCount val="5"/>
                <c:pt idx="0">
                  <c:v>2397</c:v>
                </c:pt>
                <c:pt idx="1">
                  <c:v>7901</c:v>
                </c:pt>
                <c:pt idx="2">
                  <c:v>192</c:v>
                </c:pt>
                <c:pt idx="3">
                  <c:v>2518</c:v>
                </c:pt>
                <c:pt idx="4">
                  <c:v>889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49-41F5-BAC4-8043898B09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[Gen-Z Career Aspiration Dashboard.xlsx]Sheet3!PivotTable3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5 Career Aspirations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Sheet3!$A$23:$A$28</c:f>
              <c:strCache>
                <c:ptCount val="5"/>
                <c:pt idx="0">
                  <c:v>Design &amp; Creative Strategy</c:v>
                </c:pt>
                <c:pt idx="1">
                  <c:v> Data Analysis &amp; Insights</c:v>
                </c:pt>
                <c:pt idx="2">
                  <c:v> Team Management</c:v>
                </c:pt>
                <c:pt idx="3">
                  <c:v> Project/Product Management</c:v>
                </c:pt>
                <c:pt idx="4">
                  <c:v> Entrepreneur or Start Up</c:v>
                </c:pt>
              </c:strCache>
            </c:strRef>
          </c:cat>
          <c:val>
            <c:numRef>
              <c:f>Sheet3!$B$23:$B$28</c:f>
              <c:numCache>
                <c:formatCode>General</c:formatCode>
                <c:ptCount val="5"/>
                <c:pt idx="0">
                  <c:v>1864</c:v>
                </c:pt>
                <c:pt idx="1">
                  <c:v>1389</c:v>
                </c:pt>
                <c:pt idx="2">
                  <c:v>1381</c:v>
                </c:pt>
                <c:pt idx="3">
                  <c:v>1132</c:v>
                </c:pt>
                <c:pt idx="4">
                  <c:v>1117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6E-41E4-97AD-A4F3EF0328B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80268896"/>
        <c:axId val="1395984016"/>
      </c:barChart>
      <c:catAx>
        <c:axId val="17802688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984016"/>
        <c:crosses val="autoZero"/>
        <c:auto val="1"/>
        <c:lblAlgn val="ctr"/>
        <c:lblOffset val="100"/>
        <c:noMultiLvlLbl val="0"/>
      </c:catAx>
      <c:valAx>
        <c:axId val="1395984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0268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cycle">
      <a:schemeClr val="accent5">
        <a:alpha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>
        <a:alpha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5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>
        <a:alpha val="3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453F5B-7AA4-43C3-9B1C-1EDC47DAA3A3}" type="doc">
      <dgm:prSet loTypeId="urn:microsoft.com/office/officeart/2005/8/layout/default" loCatId="list" qsTypeId="urn:microsoft.com/office/officeart/2005/8/quickstyle/simple3" qsCatId="simple" csTypeId="urn:microsoft.com/office/officeart/2005/8/colors/accent5_5" csCatId="accent5" phldr="1"/>
      <dgm:spPr/>
      <dgm:t>
        <a:bodyPr/>
        <a:lstStyle/>
        <a:p>
          <a:endParaRPr lang="en-IN"/>
        </a:p>
      </dgm:t>
    </dgm:pt>
    <dgm:pt modelId="{C7793F35-00A0-4D58-84F2-5B01A3486CE9}">
      <dgm:prSet phldrT="[Text]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IN" b="1" dirty="0"/>
            <a:t>WHAT?</a:t>
          </a:r>
          <a:br>
            <a:rPr lang="en-IN" dirty="0"/>
          </a:br>
          <a:r>
            <a:rPr lang="en-IN" dirty="0"/>
            <a:t>Understanding their career aspirations and workplace expectations</a:t>
          </a:r>
        </a:p>
      </dgm:t>
    </dgm:pt>
    <dgm:pt modelId="{91153853-D143-4E85-9DE4-FEBB3583AC78}" type="parTrans" cxnId="{C814A721-CA23-49AD-9514-993BD821C1BC}">
      <dgm:prSet/>
      <dgm:spPr/>
      <dgm:t>
        <a:bodyPr/>
        <a:lstStyle/>
        <a:p>
          <a:endParaRPr lang="en-IN"/>
        </a:p>
      </dgm:t>
    </dgm:pt>
    <dgm:pt modelId="{691CB2B5-AA25-497D-8A94-019B4603138D}" type="sibTrans" cxnId="{C814A721-CA23-49AD-9514-993BD821C1BC}">
      <dgm:prSet/>
      <dgm:spPr/>
      <dgm:t>
        <a:bodyPr/>
        <a:lstStyle/>
        <a:p>
          <a:endParaRPr lang="en-IN"/>
        </a:p>
      </dgm:t>
    </dgm:pt>
    <dgm:pt modelId="{9B3A0BEC-BB64-4A03-BB2C-1D5B07D37B7C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IN" b="1" dirty="0"/>
            <a:t>WHO?</a:t>
          </a:r>
          <a:br>
            <a:rPr lang="en-IN" dirty="0"/>
          </a:br>
          <a:r>
            <a:rPr lang="en-IN" dirty="0"/>
            <a:t>Gen-Z students and young professionals</a:t>
          </a:r>
        </a:p>
      </dgm:t>
    </dgm:pt>
    <dgm:pt modelId="{4628DDF2-5F79-4546-9A84-C9EE4C8B4D7B}" type="parTrans" cxnId="{DBD1A0B3-16E7-42D2-8CAA-B0615C230DEA}">
      <dgm:prSet/>
      <dgm:spPr/>
      <dgm:t>
        <a:bodyPr/>
        <a:lstStyle/>
        <a:p>
          <a:endParaRPr lang="en-IN"/>
        </a:p>
      </dgm:t>
    </dgm:pt>
    <dgm:pt modelId="{5377513D-943E-4BC1-830A-DCCECCC264A2}" type="sibTrans" cxnId="{DBD1A0B3-16E7-42D2-8CAA-B0615C230DEA}">
      <dgm:prSet/>
      <dgm:spPr/>
      <dgm:t>
        <a:bodyPr/>
        <a:lstStyle/>
        <a:p>
          <a:endParaRPr lang="en-IN"/>
        </a:p>
      </dgm:t>
    </dgm:pt>
    <dgm:pt modelId="{72C952CF-5E0E-47DA-BD7D-AF03D7D328BC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IN" b="1" dirty="0"/>
            <a:t>WHY?</a:t>
          </a:r>
          <a:br>
            <a:rPr lang="en-IN" dirty="0"/>
          </a:br>
          <a:r>
            <a:rPr lang="en-IN" dirty="0"/>
            <a:t>To identify the factors that influence their career and workplace preferences</a:t>
          </a:r>
        </a:p>
      </dgm:t>
    </dgm:pt>
    <dgm:pt modelId="{E4C4894E-5358-4B42-A9B5-191826B2D0B9}" type="parTrans" cxnId="{8D642F6B-2D12-4FF7-BBE8-24A8BEDBF30C}">
      <dgm:prSet/>
      <dgm:spPr/>
      <dgm:t>
        <a:bodyPr/>
        <a:lstStyle/>
        <a:p>
          <a:endParaRPr lang="en-IN"/>
        </a:p>
      </dgm:t>
    </dgm:pt>
    <dgm:pt modelId="{600D9E37-DD1A-468C-8EB6-8693C08C5F86}" type="sibTrans" cxnId="{8D642F6B-2D12-4FF7-BBE8-24A8BEDBF30C}">
      <dgm:prSet/>
      <dgm:spPr/>
      <dgm:t>
        <a:bodyPr/>
        <a:lstStyle/>
        <a:p>
          <a:endParaRPr lang="en-IN"/>
        </a:p>
      </dgm:t>
    </dgm:pt>
    <dgm:pt modelId="{BD09286F-85DB-40EB-8341-66B7574A550D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IN" b="1" dirty="0"/>
            <a:t>WHERE?</a:t>
          </a:r>
          <a:br>
            <a:rPr lang="en-IN" dirty="0"/>
          </a:br>
          <a:r>
            <a:rPr lang="en-IN" dirty="0"/>
            <a:t>Across areas such as career, work environment, managers, employers and organizational mission</a:t>
          </a:r>
        </a:p>
      </dgm:t>
    </dgm:pt>
    <dgm:pt modelId="{35A47168-FD0A-43AA-8D08-A9F8744E9725}" type="parTrans" cxnId="{9AAF4452-7E2D-4DCB-A9C7-6A8C5EC0D47A}">
      <dgm:prSet/>
      <dgm:spPr/>
      <dgm:t>
        <a:bodyPr/>
        <a:lstStyle/>
        <a:p>
          <a:endParaRPr lang="en-IN"/>
        </a:p>
      </dgm:t>
    </dgm:pt>
    <dgm:pt modelId="{526E4FBB-C866-4BA6-805D-75578BF85880}" type="sibTrans" cxnId="{9AAF4452-7E2D-4DCB-A9C7-6A8C5EC0D47A}">
      <dgm:prSet/>
      <dgm:spPr/>
      <dgm:t>
        <a:bodyPr/>
        <a:lstStyle/>
        <a:p>
          <a:endParaRPr lang="en-IN"/>
        </a:p>
      </dgm:t>
    </dgm:pt>
    <dgm:pt modelId="{3E45450A-718B-4AFD-8DBC-303449DAC7E8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IN" b="1" dirty="0"/>
            <a:t>HOW?</a:t>
          </a:r>
          <a:br>
            <a:rPr lang="en-IN" dirty="0"/>
          </a:br>
          <a:r>
            <a:rPr lang="en-IN" dirty="0"/>
            <a:t>By analysing collected Gen-Z career-preference data and presenting the findings through Excel and Power BI dashboards</a:t>
          </a:r>
        </a:p>
      </dgm:t>
    </dgm:pt>
    <dgm:pt modelId="{6155D5F0-373B-4144-AE43-FCD3490A0AAA}" type="parTrans" cxnId="{DF6FD44D-72E0-4FB3-9AE4-40FC4767958A}">
      <dgm:prSet/>
      <dgm:spPr/>
      <dgm:t>
        <a:bodyPr/>
        <a:lstStyle/>
        <a:p>
          <a:endParaRPr lang="en-IN"/>
        </a:p>
      </dgm:t>
    </dgm:pt>
    <dgm:pt modelId="{D59F84B3-D0FF-40F0-8ADD-88BBD830F1A0}" type="sibTrans" cxnId="{DF6FD44D-72E0-4FB3-9AE4-40FC4767958A}">
      <dgm:prSet/>
      <dgm:spPr/>
      <dgm:t>
        <a:bodyPr/>
        <a:lstStyle/>
        <a:p>
          <a:endParaRPr lang="en-IN"/>
        </a:p>
      </dgm:t>
    </dgm:pt>
    <dgm:pt modelId="{6FF2FAA3-D859-4435-BC33-429638062872}" type="pres">
      <dgm:prSet presAssocID="{F4453F5B-7AA4-43C3-9B1C-1EDC47DAA3A3}" presName="diagram" presStyleCnt="0">
        <dgm:presLayoutVars>
          <dgm:dir/>
          <dgm:resizeHandles val="exact"/>
        </dgm:presLayoutVars>
      </dgm:prSet>
      <dgm:spPr/>
    </dgm:pt>
    <dgm:pt modelId="{3843BB3D-FCEB-4BC4-B38D-5BE48AB2D982}" type="pres">
      <dgm:prSet presAssocID="{9B3A0BEC-BB64-4A03-BB2C-1D5B07D37B7C}" presName="node" presStyleLbl="node1" presStyleIdx="0" presStyleCnt="5">
        <dgm:presLayoutVars>
          <dgm:bulletEnabled val="1"/>
        </dgm:presLayoutVars>
      </dgm:prSet>
      <dgm:spPr/>
    </dgm:pt>
    <dgm:pt modelId="{365E2B5F-0DAD-45CF-9EA4-FEA7E08F42A5}" type="pres">
      <dgm:prSet presAssocID="{5377513D-943E-4BC1-830A-DCCECCC264A2}" presName="sibTrans" presStyleCnt="0"/>
      <dgm:spPr/>
    </dgm:pt>
    <dgm:pt modelId="{DDCB85F0-04AF-40BB-B5A5-B03705656621}" type="pres">
      <dgm:prSet presAssocID="{C7793F35-00A0-4D58-84F2-5B01A3486CE9}" presName="node" presStyleLbl="node1" presStyleIdx="1" presStyleCnt="5">
        <dgm:presLayoutVars>
          <dgm:bulletEnabled val="1"/>
        </dgm:presLayoutVars>
      </dgm:prSet>
      <dgm:spPr/>
    </dgm:pt>
    <dgm:pt modelId="{02E80C64-9E01-4947-BF1B-F330138FC4C7}" type="pres">
      <dgm:prSet presAssocID="{691CB2B5-AA25-497D-8A94-019B4603138D}" presName="sibTrans" presStyleCnt="0"/>
      <dgm:spPr/>
    </dgm:pt>
    <dgm:pt modelId="{797644C9-8A49-42C0-85BF-0E166955146F}" type="pres">
      <dgm:prSet presAssocID="{72C952CF-5E0E-47DA-BD7D-AF03D7D328BC}" presName="node" presStyleLbl="node1" presStyleIdx="2" presStyleCnt="5">
        <dgm:presLayoutVars>
          <dgm:bulletEnabled val="1"/>
        </dgm:presLayoutVars>
      </dgm:prSet>
      <dgm:spPr/>
    </dgm:pt>
    <dgm:pt modelId="{EC74AE4D-1AC4-4C2E-AAB6-5E518E243570}" type="pres">
      <dgm:prSet presAssocID="{600D9E37-DD1A-468C-8EB6-8693C08C5F86}" presName="sibTrans" presStyleCnt="0"/>
      <dgm:spPr/>
    </dgm:pt>
    <dgm:pt modelId="{927122AE-A1CF-4429-B51E-4EC59D7DDA0C}" type="pres">
      <dgm:prSet presAssocID="{BD09286F-85DB-40EB-8341-66B7574A550D}" presName="node" presStyleLbl="node1" presStyleIdx="3" presStyleCnt="5">
        <dgm:presLayoutVars>
          <dgm:bulletEnabled val="1"/>
        </dgm:presLayoutVars>
      </dgm:prSet>
      <dgm:spPr/>
    </dgm:pt>
    <dgm:pt modelId="{F3A39525-D560-43C1-8F1B-D42E8947F188}" type="pres">
      <dgm:prSet presAssocID="{526E4FBB-C866-4BA6-805D-75578BF85880}" presName="sibTrans" presStyleCnt="0"/>
      <dgm:spPr/>
    </dgm:pt>
    <dgm:pt modelId="{EE3D2D6A-E285-4578-BE61-4B2A616C6ABE}" type="pres">
      <dgm:prSet presAssocID="{3E45450A-718B-4AFD-8DBC-303449DAC7E8}" presName="node" presStyleLbl="node1" presStyleIdx="4" presStyleCnt="5">
        <dgm:presLayoutVars>
          <dgm:bulletEnabled val="1"/>
        </dgm:presLayoutVars>
      </dgm:prSet>
      <dgm:spPr/>
    </dgm:pt>
  </dgm:ptLst>
  <dgm:cxnLst>
    <dgm:cxn modelId="{C814A721-CA23-49AD-9514-993BD821C1BC}" srcId="{F4453F5B-7AA4-43C3-9B1C-1EDC47DAA3A3}" destId="{C7793F35-00A0-4D58-84F2-5B01A3486CE9}" srcOrd="1" destOrd="0" parTransId="{91153853-D143-4E85-9DE4-FEBB3583AC78}" sibTransId="{691CB2B5-AA25-497D-8A94-019B4603138D}"/>
    <dgm:cxn modelId="{9353435B-CF30-469F-993B-E6624206FC01}" type="presOf" srcId="{9B3A0BEC-BB64-4A03-BB2C-1D5B07D37B7C}" destId="{3843BB3D-FCEB-4BC4-B38D-5BE48AB2D982}" srcOrd="0" destOrd="0" presId="urn:microsoft.com/office/officeart/2005/8/layout/default"/>
    <dgm:cxn modelId="{9A289F5D-F6C3-44E7-ADB0-12EECC89B1BD}" type="presOf" srcId="{3E45450A-718B-4AFD-8DBC-303449DAC7E8}" destId="{EE3D2D6A-E285-4578-BE61-4B2A616C6ABE}" srcOrd="0" destOrd="0" presId="urn:microsoft.com/office/officeart/2005/8/layout/default"/>
    <dgm:cxn modelId="{8D642F6B-2D12-4FF7-BBE8-24A8BEDBF30C}" srcId="{F4453F5B-7AA4-43C3-9B1C-1EDC47DAA3A3}" destId="{72C952CF-5E0E-47DA-BD7D-AF03D7D328BC}" srcOrd="2" destOrd="0" parTransId="{E4C4894E-5358-4B42-A9B5-191826B2D0B9}" sibTransId="{600D9E37-DD1A-468C-8EB6-8693C08C5F86}"/>
    <dgm:cxn modelId="{DF6FD44D-72E0-4FB3-9AE4-40FC4767958A}" srcId="{F4453F5B-7AA4-43C3-9B1C-1EDC47DAA3A3}" destId="{3E45450A-718B-4AFD-8DBC-303449DAC7E8}" srcOrd="4" destOrd="0" parTransId="{6155D5F0-373B-4144-AE43-FCD3490A0AAA}" sibTransId="{D59F84B3-D0FF-40F0-8ADD-88BBD830F1A0}"/>
    <dgm:cxn modelId="{9AAF4452-7E2D-4DCB-A9C7-6A8C5EC0D47A}" srcId="{F4453F5B-7AA4-43C3-9B1C-1EDC47DAA3A3}" destId="{BD09286F-85DB-40EB-8341-66B7574A550D}" srcOrd="3" destOrd="0" parTransId="{35A47168-FD0A-43AA-8D08-A9F8744E9725}" sibTransId="{526E4FBB-C866-4BA6-805D-75578BF85880}"/>
    <dgm:cxn modelId="{431A6974-AE6C-402B-861D-CD8ADF261939}" type="presOf" srcId="{F4453F5B-7AA4-43C3-9B1C-1EDC47DAA3A3}" destId="{6FF2FAA3-D859-4435-BC33-429638062872}" srcOrd="0" destOrd="0" presId="urn:microsoft.com/office/officeart/2005/8/layout/default"/>
    <dgm:cxn modelId="{9F2D328B-8723-4980-B5FE-F641F578A19E}" type="presOf" srcId="{72C952CF-5E0E-47DA-BD7D-AF03D7D328BC}" destId="{797644C9-8A49-42C0-85BF-0E166955146F}" srcOrd="0" destOrd="0" presId="urn:microsoft.com/office/officeart/2005/8/layout/default"/>
    <dgm:cxn modelId="{BD861394-33CF-404B-81D2-41702D0B15A8}" type="presOf" srcId="{BD09286F-85DB-40EB-8341-66B7574A550D}" destId="{927122AE-A1CF-4429-B51E-4EC59D7DDA0C}" srcOrd="0" destOrd="0" presId="urn:microsoft.com/office/officeart/2005/8/layout/default"/>
    <dgm:cxn modelId="{DBD1A0B3-16E7-42D2-8CAA-B0615C230DEA}" srcId="{F4453F5B-7AA4-43C3-9B1C-1EDC47DAA3A3}" destId="{9B3A0BEC-BB64-4A03-BB2C-1D5B07D37B7C}" srcOrd="0" destOrd="0" parTransId="{4628DDF2-5F79-4546-9A84-C9EE4C8B4D7B}" sibTransId="{5377513D-943E-4BC1-830A-DCCECCC264A2}"/>
    <dgm:cxn modelId="{CB955CE5-65F6-4A81-9FF8-CA9AF6C8F515}" type="presOf" srcId="{C7793F35-00A0-4D58-84F2-5B01A3486CE9}" destId="{DDCB85F0-04AF-40BB-B5A5-B03705656621}" srcOrd="0" destOrd="0" presId="urn:microsoft.com/office/officeart/2005/8/layout/default"/>
    <dgm:cxn modelId="{C3022A78-F0A2-4578-AAB9-49AD0F872D82}" type="presParOf" srcId="{6FF2FAA3-D859-4435-BC33-429638062872}" destId="{3843BB3D-FCEB-4BC4-B38D-5BE48AB2D982}" srcOrd="0" destOrd="0" presId="urn:microsoft.com/office/officeart/2005/8/layout/default"/>
    <dgm:cxn modelId="{FD5BD3FD-9B78-44C8-B017-AAD63794E619}" type="presParOf" srcId="{6FF2FAA3-D859-4435-BC33-429638062872}" destId="{365E2B5F-0DAD-45CF-9EA4-FEA7E08F42A5}" srcOrd="1" destOrd="0" presId="urn:microsoft.com/office/officeart/2005/8/layout/default"/>
    <dgm:cxn modelId="{2E41C656-141A-4B27-B2FB-A9503989014A}" type="presParOf" srcId="{6FF2FAA3-D859-4435-BC33-429638062872}" destId="{DDCB85F0-04AF-40BB-B5A5-B03705656621}" srcOrd="2" destOrd="0" presId="urn:microsoft.com/office/officeart/2005/8/layout/default"/>
    <dgm:cxn modelId="{596CC7A0-3BAF-4A3E-A786-92E5D55DA13A}" type="presParOf" srcId="{6FF2FAA3-D859-4435-BC33-429638062872}" destId="{02E80C64-9E01-4947-BF1B-F330138FC4C7}" srcOrd="3" destOrd="0" presId="urn:microsoft.com/office/officeart/2005/8/layout/default"/>
    <dgm:cxn modelId="{EB6FB684-D557-416D-A953-8E501F7E12EA}" type="presParOf" srcId="{6FF2FAA3-D859-4435-BC33-429638062872}" destId="{797644C9-8A49-42C0-85BF-0E166955146F}" srcOrd="4" destOrd="0" presId="urn:microsoft.com/office/officeart/2005/8/layout/default"/>
    <dgm:cxn modelId="{265CB49D-A15E-464F-98C7-14F03BE27259}" type="presParOf" srcId="{6FF2FAA3-D859-4435-BC33-429638062872}" destId="{EC74AE4D-1AC4-4C2E-AAB6-5E518E243570}" srcOrd="5" destOrd="0" presId="urn:microsoft.com/office/officeart/2005/8/layout/default"/>
    <dgm:cxn modelId="{E7CD1E37-86FD-4AF8-B8B8-6FB27FA84F3B}" type="presParOf" srcId="{6FF2FAA3-D859-4435-BC33-429638062872}" destId="{927122AE-A1CF-4429-B51E-4EC59D7DDA0C}" srcOrd="6" destOrd="0" presId="urn:microsoft.com/office/officeart/2005/8/layout/default"/>
    <dgm:cxn modelId="{BEB305E2-8B6F-4339-9419-82E07095C96B}" type="presParOf" srcId="{6FF2FAA3-D859-4435-BC33-429638062872}" destId="{F3A39525-D560-43C1-8F1B-D42E8947F188}" srcOrd="7" destOrd="0" presId="urn:microsoft.com/office/officeart/2005/8/layout/default"/>
    <dgm:cxn modelId="{D02225E8-C787-4CA8-BEB0-5C46A1E6BFD6}" type="presParOf" srcId="{6FF2FAA3-D859-4435-BC33-429638062872}" destId="{EE3D2D6A-E285-4578-BE61-4B2A616C6AB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3BB3D-FCEB-4BC4-B38D-5BE48AB2D982}">
      <dsp:nvSpPr>
        <dsp:cNvPr id="0" name=""/>
        <dsp:cNvSpPr/>
      </dsp:nvSpPr>
      <dsp:spPr>
        <a:xfrm>
          <a:off x="0" y="545503"/>
          <a:ext cx="3462798" cy="2077679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WHO?</a:t>
          </a:r>
          <a:br>
            <a:rPr lang="en-IN" sz="2300" kern="1200" dirty="0"/>
          </a:br>
          <a:r>
            <a:rPr lang="en-IN" sz="2300" kern="1200" dirty="0"/>
            <a:t>Gen-Z students and young professionals</a:t>
          </a:r>
        </a:p>
      </dsp:txBody>
      <dsp:txXfrm>
        <a:off x="0" y="545503"/>
        <a:ext cx="3462798" cy="2077679"/>
      </dsp:txXfrm>
    </dsp:sp>
    <dsp:sp modelId="{DDCB85F0-04AF-40BB-B5A5-B03705656621}">
      <dsp:nvSpPr>
        <dsp:cNvPr id="0" name=""/>
        <dsp:cNvSpPr/>
      </dsp:nvSpPr>
      <dsp:spPr>
        <a:xfrm>
          <a:off x="3809078" y="545503"/>
          <a:ext cx="3462798" cy="2077679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WHAT?</a:t>
          </a:r>
          <a:br>
            <a:rPr lang="en-IN" sz="2300" kern="1200" dirty="0"/>
          </a:br>
          <a:r>
            <a:rPr lang="en-IN" sz="2300" kern="1200" dirty="0"/>
            <a:t>Understanding their career aspirations and workplace expectations</a:t>
          </a:r>
        </a:p>
      </dsp:txBody>
      <dsp:txXfrm>
        <a:off x="3809078" y="545503"/>
        <a:ext cx="3462798" cy="2077679"/>
      </dsp:txXfrm>
    </dsp:sp>
    <dsp:sp modelId="{797644C9-8A49-42C0-85BF-0E166955146F}">
      <dsp:nvSpPr>
        <dsp:cNvPr id="0" name=""/>
        <dsp:cNvSpPr/>
      </dsp:nvSpPr>
      <dsp:spPr>
        <a:xfrm>
          <a:off x="7618156" y="545503"/>
          <a:ext cx="3462798" cy="2077679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WHY?</a:t>
          </a:r>
          <a:br>
            <a:rPr lang="en-IN" sz="2300" kern="1200" dirty="0"/>
          </a:br>
          <a:r>
            <a:rPr lang="en-IN" sz="2300" kern="1200" dirty="0"/>
            <a:t>To identify the factors that influence their career and workplace preferences</a:t>
          </a:r>
        </a:p>
      </dsp:txBody>
      <dsp:txXfrm>
        <a:off x="7618156" y="545503"/>
        <a:ext cx="3462798" cy="2077679"/>
      </dsp:txXfrm>
    </dsp:sp>
    <dsp:sp modelId="{927122AE-A1CF-4429-B51E-4EC59D7DDA0C}">
      <dsp:nvSpPr>
        <dsp:cNvPr id="0" name=""/>
        <dsp:cNvSpPr/>
      </dsp:nvSpPr>
      <dsp:spPr>
        <a:xfrm>
          <a:off x="1904539" y="2969461"/>
          <a:ext cx="3462798" cy="2077679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WHERE?</a:t>
          </a:r>
          <a:br>
            <a:rPr lang="en-IN" sz="2300" kern="1200" dirty="0"/>
          </a:br>
          <a:r>
            <a:rPr lang="en-IN" sz="2300" kern="1200" dirty="0"/>
            <a:t>Across areas such as career, work environment, managers, employers and organizational mission</a:t>
          </a:r>
        </a:p>
      </dsp:txBody>
      <dsp:txXfrm>
        <a:off x="1904539" y="2969461"/>
        <a:ext cx="3462798" cy="2077679"/>
      </dsp:txXfrm>
    </dsp:sp>
    <dsp:sp modelId="{EE3D2D6A-E285-4578-BE61-4B2A616C6ABE}">
      <dsp:nvSpPr>
        <dsp:cNvPr id="0" name=""/>
        <dsp:cNvSpPr/>
      </dsp:nvSpPr>
      <dsp:spPr>
        <a:xfrm>
          <a:off x="5713617" y="2969461"/>
          <a:ext cx="3462798" cy="2077679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HOW?</a:t>
          </a:r>
          <a:br>
            <a:rPr lang="en-IN" sz="2300" kern="1200" dirty="0"/>
          </a:br>
          <a:r>
            <a:rPr lang="en-IN" sz="2300" kern="1200" dirty="0"/>
            <a:t>By analysing collected Gen-Z career-preference data and presenting the findings through Excel and Power BI dashboards</a:t>
          </a:r>
        </a:p>
      </dsp:txBody>
      <dsp:txXfrm>
        <a:off x="5713617" y="2969461"/>
        <a:ext cx="3462798" cy="2077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787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5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12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30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4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8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0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40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48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9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155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759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57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477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037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52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566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5099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228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350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5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53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620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450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43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396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810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DC0D-F523-51F5-8612-965DA71FA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9E47E-23B6-DBEB-8DF4-66B299838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8449-4F72-C19E-C030-8499985D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C2991-26E4-E4C8-A937-F3685F51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9E901-CAA1-27F5-781D-672A875B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779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E2CF-D8B0-C815-80CA-F6DA910D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6114C-5783-32AB-544A-C125E73F2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18888-95DF-AB05-22CF-6081A962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E5A73-B27E-4F12-B239-8C4AB1BA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9938-8467-CB79-8BD4-020419BD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72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882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03AE-A564-DFE9-7C77-7F15647A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DD58F-4362-8BDC-9E1D-90DDA4920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15205-2D20-75D5-20BF-1A7A88970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A5408-964F-B553-B408-53F23A82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462DA-5634-C470-E3B1-526FD002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9E731-B163-4751-53A6-62595531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91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CC4DF4E9-DC64-4853-A65C-8DEE554FE82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941912A5-FB9B-44F5-9248-B2FCEBFBCEC5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09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8" r:id="rId13"/>
    <p:sldLayoutId id="2147484059" r:id="rId14"/>
    <p:sldLayoutId id="2147484060" r:id="rId15"/>
    <p:sldLayoutId id="2147484061" r:id="rId16"/>
    <p:sldLayoutId id="2147484062" r:id="rId17"/>
    <p:sldLayoutId id="2147484063" r:id="rId18"/>
    <p:sldLayoutId id="2147484064" r:id="rId19"/>
    <p:sldLayoutId id="2147484065" r:id="rId20"/>
    <p:sldLayoutId id="2147484066" r:id="rId21"/>
    <p:sldLayoutId id="2147484067" r:id="rId22"/>
    <p:sldLayoutId id="2147484068" r:id="rId23"/>
    <p:sldLayoutId id="2147484069" r:id="rId24"/>
    <p:sldLayoutId id="2147484070" r:id="rId25"/>
    <p:sldLayoutId id="2147484071" r:id="rId26"/>
    <p:sldLayoutId id="2147484072" r:id="rId27"/>
    <p:sldLayoutId id="2147484073" r:id="rId28"/>
    <p:sldLayoutId id="2147484074" r:id="rId29"/>
    <p:sldLayoutId id="2147484075" r:id="rId30"/>
    <p:sldLayoutId id="2147484076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FE06-0A9F-6B96-06DE-7E42E48B1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760" y="324884"/>
            <a:ext cx="8917858" cy="950297"/>
          </a:xfrm>
        </p:spPr>
        <p:txBody>
          <a:bodyPr>
            <a:noAutofit/>
          </a:bodyPr>
          <a:lstStyle/>
          <a:p>
            <a:pPr algn="l"/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r>
              <a:rPr lang="en-IN" sz="3600" b="1" dirty="0" err="1"/>
              <a:t>KultureHire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C64C3-4499-3AA0-655F-F82403BC6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3" y="3659872"/>
            <a:ext cx="6764594" cy="950297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A Data-Driven Analysis of Career Preferences</a:t>
            </a:r>
          </a:p>
          <a:p>
            <a:pPr algn="l"/>
            <a:r>
              <a:rPr lang="en-IN" dirty="0"/>
              <a:t> &amp; Workplace Expectations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05ED1-0E65-DCFB-5CBB-5C88C19E3632}"/>
              </a:ext>
            </a:extLst>
          </p:cNvPr>
          <p:cNvSpPr txBox="1"/>
          <p:nvPr/>
        </p:nvSpPr>
        <p:spPr>
          <a:xfrm>
            <a:off x="658760" y="5207293"/>
            <a:ext cx="1964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by:</a:t>
            </a:r>
            <a:br>
              <a:rPr lang="en-IN" sz="2000" dirty="0"/>
            </a:br>
            <a:r>
              <a:rPr lang="en-IN" sz="2000" b="1" dirty="0"/>
              <a:t>Rutuja Sarkate</a:t>
            </a:r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2322A-0B48-7C87-A2B1-6FACD5933517}"/>
              </a:ext>
            </a:extLst>
          </p:cNvPr>
          <p:cNvSpPr/>
          <p:nvPr/>
        </p:nvSpPr>
        <p:spPr>
          <a:xfrm>
            <a:off x="108155" y="1756080"/>
            <a:ext cx="7069392" cy="16729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Data Analytics for Understanding Career Aspirations</a:t>
            </a:r>
          </a:p>
        </p:txBody>
      </p:sp>
      <p:pic>
        <p:nvPicPr>
          <p:cNvPr id="6" name="Picture 5" descr="https://images.openai.com/static-rsc-4/rwOdjfuVO6RUxjKLwcCkMnjBfmPFNodqeZRIesRdUECBQKDqdnn428fYXOKXJdhWQEGRUf5YbeKXZIDXDMAROnGEqi6nFt-XskvOrLt2vajPMJDv4oHfOImWQiME2O4lIR-UNNWK6C0G__iOdUb1hQLk0crr9kTZKlJBgOCTh8-mBbMCUcSDz9n6bi_i0kWg?purpose=fullsize">
            <a:extLst>
              <a:ext uri="{FF2B5EF4-FFF2-40B4-BE49-F238E27FC236}">
                <a16:creationId xmlns:a16="http://schemas.microsoft.com/office/drawing/2014/main" id="{FB8A9053-505A-5BBA-32AF-02EE95E23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0" y="0"/>
            <a:ext cx="4916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4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F4CE06F-4CBF-9FD0-E533-4EE3A689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103"/>
            <a:ext cx="10515600" cy="620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8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2B5F70-C6EB-DC6C-AFC6-6EFB48E3B24F}"/>
              </a:ext>
            </a:extLst>
          </p:cNvPr>
          <p:cNvSpPr txBox="1"/>
          <p:nvPr/>
        </p:nvSpPr>
        <p:spPr>
          <a:xfrm>
            <a:off x="457200" y="1291112"/>
            <a:ext cx="11277600" cy="54168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 dirty="0"/>
              <a:t>Objective :</a:t>
            </a:r>
            <a:r>
              <a:rPr lang="en-IN" sz="2400" dirty="0"/>
              <a:t>To understand the career aspirations, workplace expectations and mission-related preferences of Gen-Z.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Scope of the Project:</a:t>
            </a:r>
          </a:p>
          <a:p>
            <a:r>
              <a:rPr lang="en-IN" sz="2400" dirty="0"/>
              <a:t>Career aspirations and career influences </a:t>
            </a:r>
          </a:p>
          <a:p>
            <a:pPr lvl="0"/>
            <a:r>
              <a:rPr lang="en-IN" sz="2400" dirty="0"/>
              <a:t>Preferred work environment </a:t>
            </a:r>
          </a:p>
          <a:p>
            <a:pPr lvl="0"/>
            <a:r>
              <a:rPr lang="en-IN" sz="2400" dirty="0"/>
              <a:t>Manager and team preferences </a:t>
            </a:r>
          </a:p>
          <a:p>
            <a:pPr lvl="0"/>
            <a:r>
              <a:rPr lang="en-IN" sz="2400" dirty="0"/>
              <a:t>Employer and learning preferences </a:t>
            </a:r>
          </a:p>
          <a:p>
            <a:pPr lvl="0"/>
            <a:r>
              <a:rPr lang="en-IN" sz="2400" dirty="0"/>
              <a:t>Organizational mission and social impact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Target Audience</a:t>
            </a:r>
          </a:p>
          <a:p>
            <a:pPr lvl="0"/>
            <a:r>
              <a:rPr lang="en-IN" sz="2400" dirty="0"/>
              <a:t>Employers </a:t>
            </a:r>
          </a:p>
          <a:p>
            <a:pPr lvl="0"/>
            <a:r>
              <a:rPr lang="en-IN" sz="2400" dirty="0"/>
              <a:t>HR teams </a:t>
            </a:r>
          </a:p>
          <a:p>
            <a:pPr lvl="0"/>
            <a:r>
              <a:rPr lang="en-IN" sz="2400" dirty="0"/>
              <a:t>Recruitment teams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Project Goal : </a:t>
            </a:r>
            <a:r>
              <a:rPr lang="en-IN" sz="2000" dirty="0"/>
              <a:t>To convert Gen-Z career-preference data into meaningful insights that can support better understanding of Gen-Z expectations.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D5E2F-55EB-7D46-E3B3-0687B0039264}"/>
              </a:ext>
            </a:extLst>
          </p:cNvPr>
          <p:cNvSpPr txBox="1"/>
          <p:nvPr/>
        </p:nvSpPr>
        <p:spPr>
          <a:xfrm>
            <a:off x="2708787" y="363793"/>
            <a:ext cx="6774425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PROJECT OVERVIEW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5978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28C9-7875-BA3A-B87D-34B565C93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490" y="476866"/>
            <a:ext cx="9144000" cy="1296372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952E33-5643-8A21-CA16-55070061C94E}"/>
              </a:ext>
            </a:extLst>
          </p:cNvPr>
          <p:cNvSpPr/>
          <p:nvPr/>
        </p:nvSpPr>
        <p:spPr>
          <a:xfrm>
            <a:off x="1524000" y="3018503"/>
            <a:ext cx="9144000" cy="2251587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Understanding the career aspirations and workplace expectations of Gen-Z to help employers create a more supportive, meaningful and growth-oriented work environment.</a:t>
            </a:r>
          </a:p>
        </p:txBody>
      </p:sp>
    </p:spTree>
    <p:extLst>
      <p:ext uri="{BB962C8B-B14F-4D97-AF65-F5344CB8AC3E}">
        <p14:creationId xmlns:p14="http://schemas.microsoft.com/office/powerpoint/2010/main" val="357573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79CCB8D-B658-BD4A-B9F7-3493AC1684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159604"/>
              </p:ext>
            </p:extLst>
          </p:nvPr>
        </p:nvGraphicFramePr>
        <p:xfrm>
          <a:off x="511277" y="572182"/>
          <a:ext cx="11080955" cy="5592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71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4737-978D-C7E6-2078-7FCA1F22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316468"/>
            <a:ext cx="11253668" cy="665690"/>
          </a:xfr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b="1" dirty="0"/>
              <a:t>DATA COLLECTION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D1B3B5-C430-4C0C-F458-8A7370C21E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524885"/>
            <a:ext cx="5070987" cy="44531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94DB7-9476-1AE6-0074-2D84D829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2815" y="1524885"/>
            <a:ext cx="5349240" cy="4453128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Survey-based data collection</a:t>
            </a:r>
            <a:r>
              <a:rPr lang="en-IN" sz="32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13,897 responses</a:t>
            </a:r>
            <a:r>
              <a:rPr lang="en-IN" sz="32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Career &amp; workplace preference questions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Responses collected from Gen-Z participants</a:t>
            </a:r>
          </a:p>
          <a:p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D1753-6036-5F02-7D2D-F5AE78815983}"/>
              </a:ext>
            </a:extLst>
          </p:cNvPr>
          <p:cNvSpPr txBox="1"/>
          <p:nvPr/>
        </p:nvSpPr>
        <p:spPr>
          <a:xfrm>
            <a:off x="1256452" y="6172200"/>
            <a:ext cx="4485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Sample of the survey used for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3201457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E208-F62B-2D3D-319D-C0DD635C2F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en-IN" dirty="0"/>
              <a:t>SURVEY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8A77-7AB8-D88C-4E42-AB8C22524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5" y="2051637"/>
            <a:ext cx="11088329" cy="4703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Are you a member of Generation Z (born between 1997 and 2012)?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is your age group?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is your current status?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is your highest level of education?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Which field are you currently studying or working in?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is your biggest career goal right now?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How clear are you about the career you want to pursue?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is the most important factor when choosing a job?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starting salary would you expect for your first full-time job in India?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Which type of work would you prefer?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How important is work-life balance to you?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Would you relocate for a good job opportunity?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How important is a supportive manager or team to you?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How long would you ideally stay with one company?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should employers offer to attract Gen-Z employees?</a:t>
            </a:r>
            <a:r>
              <a:rPr lang="en-IN" dirty="0"/>
              <a:t> </a:t>
            </a:r>
          </a:p>
          <a:p>
            <a:pPr marL="342900" lvl="0" indent="-342900">
              <a:spcBef>
                <a:spcPts val="0"/>
              </a:spcBef>
              <a:buFont typeface="+mj-lt"/>
              <a:buAutoNum type="arabicPeriod"/>
            </a:pPr>
            <a:r>
              <a:rPr lang="en-IN" b="1" dirty="0"/>
              <a:t>What does career success mean to you?</a:t>
            </a:r>
            <a:endParaRPr lang="en-IN" dirty="0"/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6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16B3-8ACB-25DC-196F-71675174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6" y="172064"/>
            <a:ext cx="11169446" cy="1511710"/>
          </a:xfr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DATA CLEANING &amp; STANDARDIZING</a:t>
            </a:r>
            <a:br>
              <a:rPr lang="en-IN" b="1" dirty="0"/>
            </a:br>
            <a:r>
              <a:rPr lang="en-IN" sz="3100" dirty="0"/>
              <a:t>Tools: Excel → Data Cleaning &amp; Standardization</a:t>
            </a:r>
            <a:br>
              <a:rPr lang="en-IN" sz="31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B085-EDF0-BCC5-4034-ABDA9FAC3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7290"/>
            <a:ext cx="10515600" cy="4788310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Cleaning Process</a:t>
            </a:r>
            <a:endParaRPr lang="en-IN" sz="2000" dirty="0"/>
          </a:p>
          <a:p>
            <a:pPr marL="514350" lvl="0" indent="-514350">
              <a:buFont typeface="+mj-lt"/>
              <a:buAutoNum type="arabicPeriod"/>
            </a:pPr>
            <a:r>
              <a:rPr lang="en-IN" sz="2000" b="1" dirty="0"/>
              <a:t>Renamed column headers</a:t>
            </a:r>
            <a:br>
              <a:rPr lang="en-IN" sz="2000" dirty="0"/>
            </a:br>
            <a:r>
              <a:rPr lang="en-IN" sz="2000" dirty="0"/>
              <a:t>Made column names clear and user-friendly.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dirty="0"/>
              <a:t>Cleaned field values</a:t>
            </a:r>
            <a:br>
              <a:rPr lang="en-IN" sz="2000" dirty="0"/>
            </a:br>
            <a:r>
              <a:rPr lang="en-IN" sz="2000" dirty="0"/>
              <a:t>Standardized responses so they were easier to analyse.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dirty="0"/>
              <a:t>Handled missing values</a:t>
            </a:r>
            <a:br>
              <a:rPr lang="en-IN" sz="2000" dirty="0"/>
            </a:br>
            <a:r>
              <a:rPr lang="en-IN" sz="2000" dirty="0"/>
              <a:t>Identified and addressed null/missing values.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dirty="0"/>
              <a:t>Formatted data types</a:t>
            </a:r>
            <a:br>
              <a:rPr lang="en-IN" sz="2000" dirty="0"/>
            </a:br>
            <a:r>
              <a:rPr lang="en-IN" sz="2000" dirty="0"/>
              <a:t>Ensured each column had the appropriate format.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dirty="0"/>
              <a:t>Split data where required</a:t>
            </a:r>
            <a:br>
              <a:rPr lang="en-IN" sz="2000" dirty="0"/>
            </a:br>
            <a:r>
              <a:rPr lang="en-IN" sz="2000" dirty="0"/>
              <a:t>Organized values into separate rows where needed.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dirty="0"/>
              <a:t>Prepared the final dataset</a:t>
            </a:r>
            <a:br>
              <a:rPr lang="en-IN" sz="2000" dirty="0"/>
            </a:br>
            <a:r>
              <a:rPr lang="en-IN" sz="2000" dirty="0"/>
              <a:t>Saved the cleaned and standardized dataset for further analysis.</a:t>
            </a:r>
          </a:p>
          <a:p>
            <a:pPr marL="514350" indent="-514350">
              <a:buFont typeface="+mj-lt"/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1880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2C0A-CB41-E9DD-BF00-73FBCB281A7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2017-D1C8-36C0-D12E-02E68DE32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07178"/>
            <a:ext cx="5181600" cy="4351338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IN" sz="2000" b="1" dirty="0"/>
              <a:t>Business Questions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What industries are Gen-Z most interested in pursuing careers in?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What are the top factors influencing Gen-Z's career choices?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What is the desired work environment for Gen-Z?</a:t>
            </a:r>
            <a:br>
              <a:rPr lang="en-IN" sz="2000" dirty="0"/>
            </a:br>
            <a:r>
              <a:rPr lang="en-IN" sz="2000" i="1" dirty="0"/>
              <a:t>(Remote, hybrid, in-office, etc.)</a:t>
            </a:r>
            <a:r>
              <a:rPr lang="en-IN" sz="2000" dirty="0"/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How do financial goals, such as salary and benefits, impact career aspirations among Gen-Z?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What role do personal values and social impact play in career choices for Gen-Z?</a:t>
            </a:r>
          </a:p>
          <a:p>
            <a:endParaRPr lang="en-IN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6D8032-BBA9-17D7-14E3-FD5598811A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328"/>
          <a:stretch>
            <a:fillRect/>
          </a:stretch>
        </p:blipFill>
        <p:spPr>
          <a:xfrm>
            <a:off x="6508955" y="1853808"/>
            <a:ext cx="5112774" cy="3317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2A3B9D-24D4-7FB4-9BC6-74099D1B774B}"/>
              </a:ext>
            </a:extLst>
          </p:cNvPr>
          <p:cNvSpPr txBox="1"/>
          <p:nvPr/>
        </p:nvSpPr>
        <p:spPr>
          <a:xfrm>
            <a:off x="6508955" y="5456904"/>
            <a:ext cx="541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Excel Pivot Table – Preferred Work Environment (India)</a:t>
            </a:r>
          </a:p>
        </p:txBody>
      </p:sp>
    </p:spTree>
    <p:extLst>
      <p:ext uri="{BB962C8B-B14F-4D97-AF65-F5344CB8AC3E}">
        <p14:creationId xmlns:p14="http://schemas.microsoft.com/office/powerpoint/2010/main" val="223364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33E628A-0602-A8A7-5FBE-40D8BC7E8E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166351"/>
              </p:ext>
            </p:extLst>
          </p:nvPr>
        </p:nvGraphicFramePr>
        <p:xfrm>
          <a:off x="461070" y="1641987"/>
          <a:ext cx="5220929" cy="3138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Picture Placeholder 4">
            <a:extLst>
              <a:ext uri="{FF2B5EF4-FFF2-40B4-BE49-F238E27FC236}">
                <a16:creationId xmlns:a16="http://schemas.microsoft.com/office/drawing/2014/main" id="{413AB310-207A-E15B-F6CE-58155BDA4E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367331"/>
              </p:ext>
            </p:extLst>
          </p:nvPr>
        </p:nvGraphicFramePr>
        <p:xfrm>
          <a:off x="6333020" y="1641988"/>
          <a:ext cx="5496233" cy="3138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932D8F-C441-916E-16EB-C3D26B11C1C6}"/>
              </a:ext>
            </a:extLst>
          </p:cNvPr>
          <p:cNvSpPr txBox="1"/>
          <p:nvPr/>
        </p:nvSpPr>
        <p:spPr>
          <a:xfrm>
            <a:off x="2654711" y="496642"/>
            <a:ext cx="6314549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3600" b="1" dirty="0"/>
              <a:t>EXCEL EDA – KEY FINDINGS</a:t>
            </a:r>
            <a:endParaRPr lang="en-IN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9C6F5-4D81-4F83-D388-5277C52DFB07}"/>
              </a:ext>
            </a:extLst>
          </p:cNvPr>
          <p:cNvSpPr txBox="1"/>
          <p:nvPr/>
        </p:nvSpPr>
        <p:spPr>
          <a:xfrm>
            <a:off x="6333020" y="5037286"/>
            <a:ext cx="60240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Design &amp; Creative Strategy</a:t>
            </a:r>
            <a:r>
              <a:rPr lang="en-IN" sz="2000" dirty="0"/>
              <a:t> is the most selected career</a:t>
            </a:r>
          </a:p>
          <a:p>
            <a:r>
              <a:rPr lang="en-IN" sz="2000" dirty="0"/>
              <a:t>      aspiration among the top five. </a:t>
            </a:r>
          </a:p>
          <a:p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6B832-AF3A-218A-DD60-F639DAA98EED}"/>
              </a:ext>
            </a:extLst>
          </p:cNvPr>
          <p:cNvSpPr txBox="1"/>
          <p:nvPr/>
        </p:nvSpPr>
        <p:spPr>
          <a:xfrm>
            <a:off x="733530" y="5114863"/>
            <a:ext cx="4767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Parents</a:t>
            </a:r>
            <a:r>
              <a:rPr lang="en-IN" sz="2000" dirty="0"/>
              <a:t> are the strongest career influence </a:t>
            </a:r>
          </a:p>
          <a:p>
            <a:r>
              <a:rPr lang="en-IN" sz="2000" dirty="0"/>
              <a:t>      among the listed categories</a:t>
            </a:r>
          </a:p>
        </p:txBody>
      </p:sp>
    </p:spTree>
    <p:extLst>
      <p:ext uri="{BB962C8B-B14F-4D97-AF65-F5344CB8AC3E}">
        <p14:creationId xmlns:p14="http://schemas.microsoft.com/office/powerpoint/2010/main" val="45706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DAD4924-9898-B2B6-6E29-62F7208FC3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433044"/>
              </p:ext>
            </p:extLst>
          </p:nvPr>
        </p:nvGraphicFramePr>
        <p:xfrm>
          <a:off x="1645046" y="728522"/>
          <a:ext cx="8082116" cy="321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75321D-0607-D45C-9441-85ECD4B8DD17}"/>
              </a:ext>
            </a:extLst>
          </p:cNvPr>
          <p:cNvSpPr txBox="1"/>
          <p:nvPr/>
        </p:nvSpPr>
        <p:spPr>
          <a:xfrm>
            <a:off x="1051188" y="4466240"/>
            <a:ext cx="95453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Fully Remote – Travel When Needed</a:t>
            </a:r>
            <a:r>
              <a:rPr lang="en-IN" dirty="0"/>
              <a:t> and </a:t>
            </a:r>
            <a:r>
              <a:rPr lang="en-IN" b="1" dirty="0"/>
              <a:t>Hybrid Working Environment with </a:t>
            </a:r>
          </a:p>
          <a:p>
            <a:pPr lvl="0"/>
            <a:r>
              <a:rPr lang="en-IN" b="1" dirty="0"/>
              <a:t>      more than 15 days a month at office</a:t>
            </a:r>
            <a:r>
              <a:rPr lang="en-IN" dirty="0"/>
              <a:t> have very similar response counts.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Every Day Office</a:t>
            </a:r>
            <a:r>
              <a:rPr lang="en-IN" dirty="0"/>
              <a:t> is also a significant preference.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Gen-Z career preferences therefore cover </a:t>
            </a:r>
            <a:r>
              <a:rPr lang="en-IN" b="1" dirty="0"/>
              <a:t>career choice, personal influence and work environment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473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2034-9D1B-4207-49C9-6B75F2AB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368680"/>
            <a:ext cx="10515600" cy="1116811"/>
          </a:xfr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/>
              <a:t>EXCEL EDA: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F43CF-0684-DFDF-3003-A9956E215E2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IN" sz="2400" b="1" dirty="0"/>
              <a:t>Key Insights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Design &amp; Creative Strategy</a:t>
            </a:r>
            <a:r>
              <a:rPr lang="en-IN" sz="2400" dirty="0"/>
              <a:t> is the most selected career aspiration among the top five.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Parents</a:t>
            </a:r>
            <a:r>
              <a:rPr lang="en-IN" sz="2400" dirty="0"/>
              <a:t> are the strongest career influence among the listed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Fully Remote – Travel When Needed</a:t>
            </a:r>
            <a:r>
              <a:rPr lang="en-IN" sz="2400" dirty="0"/>
              <a:t> and </a:t>
            </a:r>
            <a:r>
              <a:rPr lang="en-IN" sz="2400" b="1" dirty="0"/>
              <a:t>Hybrid Working Environment with more than 15 days a month at office</a:t>
            </a:r>
            <a:r>
              <a:rPr lang="en-IN" sz="2400" dirty="0"/>
              <a:t> have very similar response counts.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Every Day Office</a:t>
            </a:r>
            <a:r>
              <a:rPr lang="en-IN" sz="2400" dirty="0"/>
              <a:t> is also a significant preference.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Gen-Z career preferences therefore cover </a:t>
            </a:r>
            <a:r>
              <a:rPr lang="en-IN" sz="2400" b="1" dirty="0"/>
              <a:t>career choice, personal influence and work environment</a:t>
            </a:r>
            <a:r>
              <a:rPr lang="en-IN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7790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C4D8-614A-3CE1-491E-F75AFE22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356" y="324464"/>
            <a:ext cx="6622895" cy="823093"/>
          </a:xfr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3600" b="1" dirty="0"/>
              <a:t>SQL BUSINESS INSIGHTS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51574B0-CBC5-4525-C5C8-0090EBDA9A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104" r="7104"/>
          <a:stretch/>
        </p:blipFill>
        <p:spPr>
          <a:xfrm>
            <a:off x="5668804" y="1891994"/>
            <a:ext cx="6172200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343C3-480C-D474-244C-9D6602C27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0996" y="2025445"/>
            <a:ext cx="4879765" cy="4740174"/>
          </a:xfrm>
        </p:spPr>
        <p:txBody>
          <a:bodyPr>
            <a:noAutofit/>
          </a:bodyPr>
          <a:lstStyle/>
          <a:p>
            <a:r>
              <a:rPr lang="en-IN" sz="1800" b="1" dirty="0"/>
              <a:t>BUSINESS QUESTIONS</a:t>
            </a:r>
            <a:endParaRPr lang="en-IN" sz="1800" dirty="0"/>
          </a:p>
          <a:p>
            <a:r>
              <a:rPr lang="en-IN" sz="1800" b="1" dirty="0"/>
              <a:t>01. Career Preferences</a:t>
            </a:r>
            <a:br>
              <a:rPr lang="en-IN" sz="1800" dirty="0"/>
            </a:br>
            <a:r>
              <a:rPr lang="en-IN" sz="1800" dirty="0"/>
              <a:t>What career paths are most preferred by Gen-Z?</a:t>
            </a:r>
          </a:p>
          <a:p>
            <a:r>
              <a:rPr lang="en-IN" sz="1800" b="1" dirty="0"/>
              <a:t>02. Career Influences</a:t>
            </a:r>
            <a:br>
              <a:rPr lang="en-IN" sz="1800" dirty="0"/>
            </a:br>
            <a:r>
              <a:rPr lang="en-IN" sz="1800" dirty="0"/>
              <a:t>What factors influence Gen-Z’s career choices?</a:t>
            </a:r>
          </a:p>
          <a:p>
            <a:r>
              <a:rPr lang="en-IN" sz="1800" b="1" dirty="0"/>
              <a:t>03. Work Environment</a:t>
            </a:r>
            <a:br>
              <a:rPr lang="en-IN" sz="1800" dirty="0"/>
            </a:br>
            <a:r>
              <a:rPr lang="en-IN" sz="1800" dirty="0"/>
              <a:t>What work environment does Gen-Z prefer?</a:t>
            </a:r>
          </a:p>
          <a:p>
            <a:r>
              <a:rPr lang="en-IN" sz="1800" b="1" dirty="0"/>
              <a:t>04. Financial Goals</a:t>
            </a:r>
            <a:br>
              <a:rPr lang="en-IN" sz="1800" dirty="0"/>
            </a:br>
            <a:r>
              <a:rPr lang="en-IN" sz="1800" dirty="0"/>
              <a:t>What are Gen-Z’s starting salary expectations?</a:t>
            </a:r>
          </a:p>
          <a:p>
            <a:r>
              <a:rPr lang="en-IN" sz="1800" b="1" dirty="0"/>
              <a:t>05. Social Impact</a:t>
            </a:r>
            <a:br>
              <a:rPr lang="en-IN" sz="1800" dirty="0"/>
            </a:br>
            <a:r>
              <a:rPr lang="en-IN" sz="1800" dirty="0"/>
              <a:t>How important is social impact in career choices?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3648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A54EF-7D61-C427-E16B-98894486B6FE}"/>
              </a:ext>
            </a:extLst>
          </p:cNvPr>
          <p:cNvSpPr txBox="1"/>
          <p:nvPr/>
        </p:nvSpPr>
        <p:spPr>
          <a:xfrm>
            <a:off x="2595714" y="309716"/>
            <a:ext cx="771832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/>
              <a:t>EXECUTIVE EXCEL DASHBOARD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16B86-2DD5-0B9E-633F-D2D8015E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1288026"/>
            <a:ext cx="11444749" cy="526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44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5AED8-41D4-003B-4F56-0B78DD864F75}"/>
              </a:ext>
            </a:extLst>
          </p:cNvPr>
          <p:cNvSpPr txBox="1"/>
          <p:nvPr/>
        </p:nvSpPr>
        <p:spPr>
          <a:xfrm>
            <a:off x="1568245" y="172554"/>
            <a:ext cx="9055509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/>
              <a:t>POWER BI FUNCTIONAL DASHBOARDS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448A2-7CAF-C657-C525-1760AA939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1088783"/>
            <a:ext cx="11533239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4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39496-B898-2E39-A89D-724D6591E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434080"/>
            <a:ext cx="11189109" cy="598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06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34A5-B4F5-8DEA-B800-2362E2EEB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/>
              <a:t>TCS 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73EBB-45AD-1926-84E9-89A07D25D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7"/>
            <a:ext cx="5181600" cy="448627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/>
              <a:t>Tata Consultancy Services (TCS)</a:t>
            </a:r>
            <a:r>
              <a:rPr lang="en-IN" dirty="0"/>
              <a:t> is a global technology services company and part of the Tata Group.</a:t>
            </a:r>
          </a:p>
          <a:p>
            <a:pPr lvl="0"/>
            <a:r>
              <a:rPr lang="en-IN" dirty="0"/>
              <a:t>Founded in </a:t>
            </a:r>
            <a:r>
              <a:rPr lang="en-IN" b="1" dirty="0"/>
              <a:t>1968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Operates across </a:t>
            </a:r>
            <a:r>
              <a:rPr lang="en-IN" b="1" dirty="0"/>
              <a:t>56 countries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Has </a:t>
            </a:r>
            <a:r>
              <a:rPr lang="en-IN" b="1" dirty="0"/>
              <a:t>194 service delivery </a:t>
            </a:r>
            <a:r>
              <a:rPr lang="en-IN" b="1" dirty="0" err="1"/>
              <a:t>centers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Provides technology and digital transformation services </a:t>
            </a:r>
          </a:p>
          <a:p>
            <a:pPr lvl="0"/>
            <a:r>
              <a:rPr lang="en-IN" dirty="0"/>
              <a:t>Focuses on emerging technologies, including </a:t>
            </a:r>
            <a:r>
              <a:rPr lang="en-IN" b="1" dirty="0"/>
              <a:t>AI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Serves clients across industries worldwide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F6821-A47E-8A24-E03A-131FAD6D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7"/>
            <a:ext cx="5181600" cy="44862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IN" b="1" dirty="0"/>
              <a:t>HOW DATA CAN SUPPORT TCS</a:t>
            </a:r>
          </a:p>
          <a:p>
            <a:r>
              <a:rPr lang="en-IN" dirty="0"/>
              <a:t>Use your Gen-Z survey + employee-review data:</a:t>
            </a:r>
          </a:p>
          <a:p>
            <a:pPr lvl="0"/>
            <a:r>
              <a:rPr lang="en-IN" b="1" dirty="0"/>
              <a:t>Understand employee expectations:</a:t>
            </a:r>
            <a:r>
              <a:rPr lang="en-IN" dirty="0"/>
              <a:t> Identify what Gen-Z values in work, managers, learning and career growth. </a:t>
            </a:r>
          </a:p>
          <a:p>
            <a:pPr lvl="0"/>
            <a:r>
              <a:rPr lang="en-IN" b="1" dirty="0"/>
              <a:t>Improve workplace experience:</a:t>
            </a:r>
            <a:r>
              <a:rPr lang="en-IN" dirty="0"/>
              <a:t> Use employee feedback on areas such as work-life balance and company culture. </a:t>
            </a:r>
          </a:p>
          <a:p>
            <a:pPr lvl="0"/>
            <a:r>
              <a:rPr lang="en-IN" b="1" dirty="0"/>
              <a:t>Support career development:</a:t>
            </a:r>
            <a:r>
              <a:rPr lang="en-IN" dirty="0"/>
              <a:t> Compare Gen-Z's learning and career-growth expectations with employee feedback. </a:t>
            </a:r>
          </a:p>
          <a:p>
            <a:pPr lvl="0"/>
            <a:r>
              <a:rPr lang="en-IN" b="1" dirty="0"/>
              <a:t>Improve compensation strategy:</a:t>
            </a:r>
            <a:r>
              <a:rPr lang="en-IN" dirty="0"/>
              <a:t> Consider salary and benefits expectations when designing roles for young employees. </a:t>
            </a:r>
          </a:p>
          <a:p>
            <a:pPr lvl="0"/>
            <a:r>
              <a:rPr lang="en-IN" b="1" dirty="0"/>
              <a:t>Strengthen employee engagement:</a:t>
            </a:r>
            <a:r>
              <a:rPr lang="en-IN" dirty="0"/>
              <a:t> Use feedback and sentiment to identify areas that may need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97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472D0C-C84F-DEF7-A71C-FD243D7F1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69"/>
          <a:stretch>
            <a:fillRect/>
          </a:stretch>
        </p:blipFill>
        <p:spPr>
          <a:xfrm>
            <a:off x="500028" y="3826892"/>
            <a:ext cx="5388957" cy="23386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663C30-8CC6-C33C-1DCE-C02E0B4AA1D1}"/>
              </a:ext>
            </a:extLst>
          </p:cNvPr>
          <p:cNvSpPr txBox="1"/>
          <p:nvPr/>
        </p:nvSpPr>
        <p:spPr>
          <a:xfrm>
            <a:off x="2465912" y="273932"/>
            <a:ext cx="7855974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dirty="0"/>
              <a:t>TCS EMPLOYEE REVIEW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622BC-CEEB-F53F-69C7-1C1DFF9E7D59}"/>
              </a:ext>
            </a:extLst>
          </p:cNvPr>
          <p:cNvSpPr txBox="1"/>
          <p:nvPr/>
        </p:nvSpPr>
        <p:spPr>
          <a:xfrm>
            <a:off x="8696871" y="6152048"/>
            <a:ext cx="173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COMPARABLY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7D41D-5A54-D05C-7E7D-8E540533205A}"/>
              </a:ext>
            </a:extLst>
          </p:cNvPr>
          <p:cNvSpPr txBox="1"/>
          <p:nvPr/>
        </p:nvSpPr>
        <p:spPr>
          <a:xfrm>
            <a:off x="8314806" y="3186080"/>
            <a:ext cx="164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spc="-10" dirty="0">
                <a:latin typeface="Trebuchet MS"/>
                <a:cs typeface="Trebuchet MS"/>
              </a:rPr>
              <a:t>AMBITIONBOX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94E23-8BF1-DEC2-71DD-0116F2EC97AF}"/>
              </a:ext>
            </a:extLst>
          </p:cNvPr>
          <p:cNvSpPr txBox="1"/>
          <p:nvPr/>
        </p:nvSpPr>
        <p:spPr>
          <a:xfrm>
            <a:off x="2306253" y="6211669"/>
            <a:ext cx="157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spc="50" dirty="0">
                <a:latin typeface="Trebuchet MS"/>
                <a:cs typeface="Trebuchet MS"/>
              </a:rPr>
              <a:t>GLASSDOOR</a:t>
            </a:r>
            <a:endParaRPr lang="en-IN" dirty="0">
              <a:latin typeface="Trebuchet MS"/>
              <a:cs typeface="Trebuchet MS"/>
            </a:endParaRPr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260A3C-889F-531B-371D-06F73F2A7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47" y="1243428"/>
            <a:ext cx="5388956" cy="1989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47279F-E451-1713-4EE0-49E575C54268}"/>
              </a:ext>
            </a:extLst>
          </p:cNvPr>
          <p:cNvSpPr txBox="1"/>
          <p:nvPr/>
        </p:nvSpPr>
        <p:spPr>
          <a:xfrm>
            <a:off x="2465912" y="3211340"/>
            <a:ext cx="141128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spc="-10" dirty="0">
                <a:latin typeface="Trebuchet MS"/>
                <a:cs typeface="Trebuchet MS"/>
              </a:rPr>
              <a:t>CAREERBLISS</a:t>
            </a:r>
            <a:endParaRPr lang="en-IN" dirty="0">
              <a:latin typeface="Trebuchet MS"/>
              <a:cs typeface="Trebuchet MS"/>
            </a:endParaRP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191643-0927-4E19-6E7F-C3EF1FE0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899" y="1243428"/>
            <a:ext cx="5663382" cy="1964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2C309D-0FCA-35F9-2285-3FEC88184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386" y="3826892"/>
            <a:ext cx="4970485" cy="233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0900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2FFC-C853-5B36-3701-85FDC0B5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3" y="265471"/>
            <a:ext cx="11376213" cy="1017440"/>
          </a:xfr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PROBLEM AREAS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758E6-D931-C53C-116B-825C9AA93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7"/>
            <a:ext cx="10515600" cy="4218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                 1. Work Environment</a:t>
            </a:r>
          </a:p>
          <a:p>
            <a:pPr marL="0" indent="0">
              <a:buNone/>
            </a:pPr>
            <a:endParaRPr lang="en-IN" sz="2400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7D43FE2-52B2-489B-994A-DA3BD33A94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867188"/>
              </p:ext>
            </p:extLst>
          </p:nvPr>
        </p:nvGraphicFramePr>
        <p:xfrm>
          <a:off x="407893" y="1904981"/>
          <a:ext cx="5415240" cy="2986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4C1C01-42CA-CA3F-DDD6-27FC1B030258}"/>
              </a:ext>
            </a:extLst>
          </p:cNvPr>
          <p:cNvSpPr txBox="1"/>
          <p:nvPr/>
        </p:nvSpPr>
        <p:spPr>
          <a:xfrm>
            <a:off x="771980" y="5045174"/>
            <a:ext cx="55476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Gen-Z shows strong preference for </a:t>
            </a:r>
            <a:r>
              <a:rPr lang="en-IN" sz="2000" b="1" dirty="0"/>
              <a:t>flexible work arrangements</a:t>
            </a:r>
            <a:r>
              <a:rPr lang="en-IN" sz="2000" dirty="0"/>
              <a:t>, particularly remote and hybrid working environments.</a:t>
            </a:r>
            <a:endParaRPr lang="en-IN" sz="2000" b="1" dirty="0"/>
          </a:p>
          <a:p>
            <a:r>
              <a:rPr lang="en-IN" b="1" dirty="0"/>
              <a:t>Recommendation: </a:t>
            </a:r>
            <a:r>
              <a:rPr lang="en-IN" dirty="0"/>
              <a:t>Organisations can provide flexible </a:t>
            </a:r>
          </a:p>
          <a:p>
            <a:r>
              <a:rPr lang="en-IN" dirty="0"/>
              <a:t>work arrangements where feasible.</a:t>
            </a:r>
          </a:p>
          <a:p>
            <a:endParaRPr lang="en-IN" dirty="0"/>
          </a:p>
          <a:p>
            <a:endParaRPr lang="en-IN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540D9B8-3E62-427A-820D-796FBC7504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923913"/>
              </p:ext>
            </p:extLst>
          </p:nvPr>
        </p:nvGraphicFramePr>
        <p:xfrm>
          <a:off x="6319659" y="1899210"/>
          <a:ext cx="5400000" cy="2991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7FC497-C81B-66AC-8C04-17AA25E9EA58}"/>
              </a:ext>
            </a:extLst>
          </p:cNvPr>
          <p:cNvSpPr txBox="1"/>
          <p:nvPr/>
        </p:nvSpPr>
        <p:spPr>
          <a:xfrm>
            <a:off x="7242237" y="1337187"/>
            <a:ext cx="3469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2.Mission &amp; Social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C9E16-ADF9-AC7B-5D26-164CF68071DD}"/>
              </a:ext>
            </a:extLst>
          </p:cNvPr>
          <p:cNvSpPr txBox="1"/>
          <p:nvPr/>
        </p:nvSpPr>
        <p:spPr>
          <a:xfrm>
            <a:off x="6555025" y="5115632"/>
            <a:ext cx="565938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Gen-Z considers </a:t>
            </a:r>
            <a:r>
              <a:rPr lang="en-IN" sz="2000" b="1" dirty="0"/>
              <a:t>organisational mission and social impact</a:t>
            </a:r>
            <a:r>
              <a:rPr lang="en-IN" sz="2000" dirty="0"/>
              <a:t> when evaluating career choices</a:t>
            </a:r>
            <a:r>
              <a:rPr lang="en-IN" dirty="0"/>
              <a:t>.</a:t>
            </a:r>
            <a:endParaRPr lang="en-IN" b="1" dirty="0"/>
          </a:p>
          <a:p>
            <a:r>
              <a:rPr lang="en-IN" b="1" dirty="0"/>
              <a:t>Recommendation:</a:t>
            </a:r>
            <a:r>
              <a:rPr lang="en-IN" dirty="0"/>
              <a:t> Clearly communicate organisational </a:t>
            </a:r>
          </a:p>
          <a:p>
            <a:r>
              <a:rPr lang="en-IN" dirty="0"/>
              <a:t>purpose and social impact.</a:t>
            </a:r>
          </a:p>
        </p:txBody>
      </p:sp>
    </p:spTree>
    <p:extLst>
      <p:ext uri="{BB962C8B-B14F-4D97-AF65-F5344CB8AC3E}">
        <p14:creationId xmlns:p14="http://schemas.microsoft.com/office/powerpoint/2010/main" val="314410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B9CCAAF-99B3-4E6C-A3D6-0497EC23E2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4713169"/>
              </p:ext>
            </p:extLst>
          </p:nvPr>
        </p:nvGraphicFramePr>
        <p:xfrm>
          <a:off x="617343" y="1142823"/>
          <a:ext cx="5400000" cy="3108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F37C71E-1F94-4CE7-A4FA-C638C36740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7780477"/>
              </p:ext>
            </p:extLst>
          </p:nvPr>
        </p:nvGraphicFramePr>
        <p:xfrm>
          <a:off x="6521414" y="1176574"/>
          <a:ext cx="5400000" cy="3105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57B3CB-9B91-FC84-9AAC-962417F810AA}"/>
              </a:ext>
            </a:extLst>
          </p:cNvPr>
          <p:cNvSpPr txBox="1"/>
          <p:nvPr/>
        </p:nvSpPr>
        <p:spPr>
          <a:xfrm>
            <a:off x="2279679" y="488060"/>
            <a:ext cx="2476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3.MANAGER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D7456-FB1D-DBE1-6A99-4ACF65BA8A01}"/>
              </a:ext>
            </a:extLst>
          </p:cNvPr>
          <p:cNvSpPr txBox="1"/>
          <p:nvPr/>
        </p:nvSpPr>
        <p:spPr>
          <a:xfrm>
            <a:off x="696001" y="4444181"/>
            <a:ext cx="53213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Manager preferences vary among Gen-Z.</a:t>
            </a:r>
            <a:endParaRPr lang="en-IN" sz="2000" b="1" dirty="0"/>
          </a:p>
          <a:p>
            <a:r>
              <a:rPr lang="en-IN" b="1" dirty="0"/>
              <a:t>Recommendation:</a:t>
            </a:r>
            <a:br>
              <a:rPr lang="en-IN" dirty="0"/>
            </a:br>
            <a:r>
              <a:rPr lang="en-IN" dirty="0"/>
              <a:t>Organisations should provide </a:t>
            </a:r>
            <a:r>
              <a:rPr lang="en-IN" b="1" dirty="0"/>
              <a:t>supportive, approachable and development-focused management</a:t>
            </a:r>
            <a:r>
              <a:rPr lang="en-IN" dirty="0"/>
              <a:t> that aligns with employee expectations.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93589-94F9-48EA-85EF-269FE3B2C9A8}"/>
              </a:ext>
            </a:extLst>
          </p:cNvPr>
          <p:cNvSpPr txBox="1"/>
          <p:nvPr/>
        </p:nvSpPr>
        <p:spPr>
          <a:xfrm>
            <a:off x="6521414" y="4509145"/>
            <a:ext cx="553383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Gen-Z has diverse career aspirations.</a:t>
            </a:r>
            <a:endParaRPr lang="en-IN" sz="2000" b="1" dirty="0"/>
          </a:p>
          <a:p>
            <a:r>
              <a:rPr lang="en-IN" b="1" dirty="0"/>
              <a:t>Recommendation:</a:t>
            </a:r>
            <a:br>
              <a:rPr lang="en-IN" dirty="0"/>
            </a:br>
            <a:r>
              <a:rPr lang="en-IN" dirty="0"/>
              <a:t>Organisations should provide </a:t>
            </a:r>
            <a:r>
              <a:rPr lang="en-IN" b="1" dirty="0"/>
              <a:t>multiple career paths, role-specific learning opportunities and clear growth pathways</a:t>
            </a:r>
            <a:r>
              <a:rPr lang="en-IN" dirty="0"/>
              <a:t> to support different career aspirations.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F02A9-F756-9D9D-8179-624EE701312B}"/>
              </a:ext>
            </a:extLst>
          </p:cNvPr>
          <p:cNvSpPr txBox="1"/>
          <p:nvPr/>
        </p:nvSpPr>
        <p:spPr>
          <a:xfrm>
            <a:off x="7811805" y="488059"/>
            <a:ext cx="3185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4.CAREER ASPIRATIONS</a:t>
            </a:r>
          </a:p>
        </p:txBody>
      </p:sp>
    </p:spTree>
    <p:extLst>
      <p:ext uri="{BB962C8B-B14F-4D97-AF65-F5344CB8AC3E}">
        <p14:creationId xmlns:p14="http://schemas.microsoft.com/office/powerpoint/2010/main" val="4286623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31E15A-5445-9365-7552-DB895F40BADE}"/>
              </a:ext>
            </a:extLst>
          </p:cNvPr>
          <p:cNvSpPr txBox="1"/>
          <p:nvPr/>
        </p:nvSpPr>
        <p:spPr>
          <a:xfrm>
            <a:off x="3519948" y="2320414"/>
            <a:ext cx="5692878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7200" b="1" dirty="0">
                <a:ln>
                  <a:solidFill>
                    <a:schemeClr val="tx1"/>
                  </a:solidFill>
                </a:ln>
              </a:rPr>
              <a:t>THANK</a:t>
            </a:r>
            <a:r>
              <a:rPr lang="en-IN" sz="7200" b="1" dirty="0"/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548058477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2572</TotalTime>
  <Words>1103</Words>
  <Application>Microsoft Office PowerPoint</Application>
  <PresentationFormat>Widescreen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Felix Titling</vt:lpstr>
      <vt:lpstr>Goudy Old Style</vt:lpstr>
      <vt:lpstr>Trebuchet MS</vt:lpstr>
      <vt:lpstr>Wingdings</vt:lpstr>
      <vt:lpstr>Archway</vt:lpstr>
      <vt:lpstr>   KultureHire</vt:lpstr>
      <vt:lpstr>PowerPoint Presentation</vt:lpstr>
      <vt:lpstr>PowerPoint Presentation</vt:lpstr>
      <vt:lpstr>PROBLEM STATEMENT</vt:lpstr>
      <vt:lpstr>PowerPoint Presentation</vt:lpstr>
      <vt:lpstr>DATA COLLECTION</vt:lpstr>
      <vt:lpstr>SURVEY QUESTIONS </vt:lpstr>
      <vt:lpstr>      DATA CLEANING &amp; STANDARDIZING Tools: Excel → Data Cleaning &amp; Standardization </vt:lpstr>
      <vt:lpstr> EXPLORATORY DATA ANALYSIS (EDA)</vt:lpstr>
      <vt:lpstr>PowerPoint Presentation</vt:lpstr>
      <vt:lpstr>PowerPoint Presentation</vt:lpstr>
      <vt:lpstr>EXCEL EDA: INSIGHTS</vt:lpstr>
      <vt:lpstr>SQL BUSINESS INSIGHTS</vt:lpstr>
      <vt:lpstr>PowerPoint Presentation</vt:lpstr>
      <vt:lpstr>PowerPoint Presentation</vt:lpstr>
      <vt:lpstr>PowerPoint Presentation</vt:lpstr>
      <vt:lpstr>TCS COMPANY OVERVIEW</vt:lpstr>
      <vt:lpstr>PowerPoint Presentation</vt:lpstr>
      <vt:lpstr>PROBLEM AREAS &amp; 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Rutuja Sarkate</dc:creator>
  <cp:lastModifiedBy>Rutuja Sarkate</cp:lastModifiedBy>
  <cp:revision>3</cp:revision>
  <dcterms:created xsi:type="dcterms:W3CDTF">2026-09-28T12:58:47Z</dcterms:created>
  <dcterms:modified xsi:type="dcterms:W3CDTF">2026-10-03T04:57:05Z</dcterms:modified>
</cp:coreProperties>
</file>